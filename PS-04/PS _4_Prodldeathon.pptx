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B3AC0-EC02-430B-9634-7386FE7DC4E9}" v="1" dt="2026-10-25T04:04:10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n Garg" userId="2317470f0338b1b2" providerId="LiveId" clId="{EDF9F6D3-5DC7-45D7-B5F4-377B7FB8C1F2}"/>
    <pc:docChg chg="custSel modSld">
      <pc:chgData name="Harun Garg" userId="2317470f0338b1b2" providerId="LiveId" clId="{EDF9F6D3-5DC7-45D7-B5F4-377B7FB8C1F2}" dt="2026-10-25T04:21:30.481" v="323" actId="20577"/>
      <pc:docMkLst>
        <pc:docMk/>
      </pc:docMkLst>
      <pc:sldChg chg="addSp modSp mod">
        <pc:chgData name="Harun Garg" userId="2317470f0338b1b2" providerId="LiveId" clId="{EDF9F6D3-5DC7-45D7-B5F4-377B7FB8C1F2}" dt="2026-10-25T04:07:41.317" v="193" actId="20577"/>
        <pc:sldMkLst>
          <pc:docMk/>
          <pc:sldMk cId="0" sldId="256"/>
        </pc:sldMkLst>
        <pc:spChg chg="mod">
          <ac:chgData name="Harun Garg" userId="2317470f0338b1b2" providerId="LiveId" clId="{EDF9F6D3-5DC7-45D7-B5F4-377B7FB8C1F2}" dt="2026-10-25T04:07:36.449" v="192" actId="313"/>
          <ac:spMkLst>
            <pc:docMk/>
            <pc:sldMk cId="0" sldId="256"/>
            <ac:spMk id="44" creationId="{00000000-0000-0000-0000-000000000000}"/>
          </ac:spMkLst>
        </pc:spChg>
        <pc:spChg chg="add mod">
          <ac:chgData name="Harun Garg" userId="2317470f0338b1b2" providerId="LiveId" clId="{EDF9F6D3-5DC7-45D7-B5F4-377B7FB8C1F2}" dt="2026-10-25T04:07:41.317" v="193" actId="20577"/>
          <ac:spMkLst>
            <pc:docMk/>
            <pc:sldMk cId="0" sldId="256"/>
            <ac:spMk id="46" creationId="{A9E9DD87-E9C5-B8E2-9E96-6F372AED60E4}"/>
          </ac:spMkLst>
        </pc:spChg>
      </pc:sldChg>
      <pc:sldChg chg="modSp mod">
        <pc:chgData name="Harun Garg" userId="2317470f0338b1b2" providerId="LiveId" clId="{EDF9F6D3-5DC7-45D7-B5F4-377B7FB8C1F2}" dt="2026-10-25T04:15:10.361" v="222" actId="255"/>
        <pc:sldMkLst>
          <pc:docMk/>
          <pc:sldMk cId="0" sldId="257"/>
        </pc:sldMkLst>
        <pc:spChg chg="mod">
          <ac:chgData name="Harun Garg" userId="2317470f0338b1b2" providerId="LiveId" clId="{EDF9F6D3-5DC7-45D7-B5F4-377B7FB8C1F2}" dt="2026-10-25T04:09:18.892" v="200" actId="255"/>
          <ac:spMkLst>
            <pc:docMk/>
            <pc:sldMk cId="0" sldId="257"/>
            <ac:spMk id="91" creationId="{00000000-0000-0000-0000-000000000000}"/>
          </ac:spMkLst>
        </pc:spChg>
        <pc:spChg chg="mod">
          <ac:chgData name="Harun Garg" userId="2317470f0338b1b2" providerId="LiveId" clId="{EDF9F6D3-5DC7-45D7-B5F4-377B7FB8C1F2}" dt="2026-10-25T04:15:10.361" v="222" actId="255"/>
          <ac:spMkLst>
            <pc:docMk/>
            <pc:sldMk cId="0" sldId="257"/>
            <ac:spMk id="92" creationId="{00000000-0000-0000-0000-000000000000}"/>
          </ac:spMkLst>
        </pc:spChg>
        <pc:spChg chg="mod">
          <ac:chgData name="Harun Garg" userId="2317470f0338b1b2" providerId="LiveId" clId="{EDF9F6D3-5DC7-45D7-B5F4-377B7FB8C1F2}" dt="2026-10-25T04:10:24.306" v="209" actId="255"/>
          <ac:spMkLst>
            <pc:docMk/>
            <pc:sldMk cId="0" sldId="257"/>
            <ac:spMk id="95" creationId="{00000000-0000-0000-0000-000000000000}"/>
          </ac:spMkLst>
        </pc:spChg>
      </pc:sldChg>
      <pc:sldChg chg="modSp mod">
        <pc:chgData name="Harun Garg" userId="2317470f0338b1b2" providerId="LiveId" clId="{EDF9F6D3-5DC7-45D7-B5F4-377B7FB8C1F2}" dt="2026-10-25T04:19:17.547" v="227" actId="207"/>
        <pc:sldMkLst>
          <pc:docMk/>
          <pc:sldMk cId="0" sldId="259"/>
        </pc:sldMkLst>
        <pc:spChg chg="mod">
          <ac:chgData name="Harun Garg" userId="2317470f0338b1b2" providerId="LiveId" clId="{EDF9F6D3-5DC7-45D7-B5F4-377B7FB8C1F2}" dt="2026-10-25T04:18:38.831" v="224" actId="255"/>
          <ac:spMkLst>
            <pc:docMk/>
            <pc:sldMk cId="0" sldId="259"/>
            <ac:spMk id="77" creationId="{00000000-0000-0000-0000-000000000000}"/>
          </ac:spMkLst>
        </pc:spChg>
        <pc:spChg chg="mod">
          <ac:chgData name="Harun Garg" userId="2317470f0338b1b2" providerId="LiveId" clId="{EDF9F6D3-5DC7-45D7-B5F4-377B7FB8C1F2}" dt="2026-10-25T04:18:14.538" v="223" actId="255"/>
          <ac:spMkLst>
            <pc:docMk/>
            <pc:sldMk cId="0" sldId="259"/>
            <ac:spMk id="78" creationId="{00000000-0000-0000-0000-000000000000}"/>
          </ac:spMkLst>
        </pc:spChg>
        <pc:spChg chg="mod">
          <ac:chgData name="Harun Garg" userId="2317470f0338b1b2" providerId="LiveId" clId="{EDF9F6D3-5DC7-45D7-B5F4-377B7FB8C1F2}" dt="2026-10-25T04:19:08.427" v="226" actId="207"/>
          <ac:spMkLst>
            <pc:docMk/>
            <pc:sldMk cId="0" sldId="259"/>
            <ac:spMk id="82" creationId="{00000000-0000-0000-0000-000000000000}"/>
          </ac:spMkLst>
        </pc:spChg>
        <pc:spChg chg="mod">
          <ac:chgData name="Harun Garg" userId="2317470f0338b1b2" providerId="LiveId" clId="{EDF9F6D3-5DC7-45D7-B5F4-377B7FB8C1F2}" dt="2026-10-25T04:18:59.904" v="225" actId="207"/>
          <ac:spMkLst>
            <pc:docMk/>
            <pc:sldMk cId="0" sldId="259"/>
            <ac:spMk id="86" creationId="{00000000-0000-0000-0000-000000000000}"/>
          </ac:spMkLst>
        </pc:spChg>
        <pc:spChg chg="mod">
          <ac:chgData name="Harun Garg" userId="2317470f0338b1b2" providerId="LiveId" clId="{EDF9F6D3-5DC7-45D7-B5F4-377B7FB8C1F2}" dt="2026-10-25T04:19:17.547" v="227" actId="207"/>
          <ac:spMkLst>
            <pc:docMk/>
            <pc:sldMk cId="0" sldId="259"/>
            <ac:spMk id="90" creationId="{00000000-0000-0000-0000-000000000000}"/>
          </ac:spMkLst>
        </pc:spChg>
      </pc:sldChg>
      <pc:sldChg chg="modSp mod">
        <pc:chgData name="Harun Garg" userId="2317470f0338b1b2" providerId="LiveId" clId="{EDF9F6D3-5DC7-45D7-B5F4-377B7FB8C1F2}" dt="2026-10-25T04:21:30.481" v="323" actId="20577"/>
        <pc:sldMkLst>
          <pc:docMk/>
          <pc:sldMk cId="0" sldId="260"/>
        </pc:sldMkLst>
        <pc:spChg chg="mod">
          <ac:chgData name="Harun Garg" userId="2317470f0338b1b2" providerId="LiveId" clId="{EDF9F6D3-5DC7-45D7-B5F4-377B7FB8C1F2}" dt="2026-10-25T04:21:30.481" v="323" actId="20577"/>
          <ac:spMkLst>
            <pc:docMk/>
            <pc:sldMk cId="0" sldId="260"/>
            <ac:spMk id="6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5C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9AA5C0"/>
                </a:solidFill>
                <a:latin typeface="Calibri"/>
              </a:rPr>
              <a:t>CAPEX by item ($M, with contingency)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FFE8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03-4180-8CD3-A10111EB9B3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D03-4180-8CD3-A10111EB9B3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D03-4180-8CD3-A10111EB9B3C}"/>
              </c:ext>
            </c:extLst>
          </c:dPt>
          <c:dPt>
            <c:idx val="3"/>
            <c:invertIfNegative val="0"/>
            <c:bubble3D val="0"/>
            <c:spPr>
              <a:solidFill>
                <a:srgbClr val="4A52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03-4180-8CD3-A10111EB9B3C}"/>
              </c:ext>
            </c:extLst>
          </c:dPt>
          <c:cat>
            <c:strRef>
              <c:f>Sheet1!$A$2:$A$5</c:f>
              <c:strCache>
                <c:ptCount val="4"/>
                <c:pt idx="0">
                  <c:v>Launch  $576M</c:v>
                </c:pt>
                <c:pt idx="1">
                  <c:v>Tug fleet  $506M</c:v>
                </c:pt>
                <c:pt idx="2">
                  <c:v>Mining bases  $389M</c:v>
                </c:pt>
                <c:pt idx="3">
                  <c:v>Development  $240M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576</c:v>
                </c:pt>
                <c:pt idx="1">
                  <c:v>506</c:v>
                </c:pt>
                <c:pt idx="2">
                  <c:v>389</c:v>
                </c:pt>
                <c:pt idx="3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03-4180-8CD3-A10111EB9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8EC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5C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9AA5C0"/>
                </a:solidFill>
                <a:latin typeface="Calibri"/>
              </a:rPr>
              <a:t>Project IRR when one thing goes wrong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IRR %</c:v>
                </c:pt>
              </c:strCache>
            </c:strRef>
          </c:tx>
          <c:spPr>
            <a:solidFill>
              <a:srgbClr val="FFE81F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E8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AB-46F3-874B-E13B173D699B}"/>
              </c:ext>
            </c:extLst>
          </c:dPt>
          <c:dPt>
            <c:idx val="1"/>
            <c:invertIfNegative val="0"/>
            <c:bubble3D val="0"/>
            <c:spPr>
              <a:solidFill>
                <a:srgbClr val="5B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AB-46F3-874B-E13B173D699B}"/>
              </c:ext>
            </c:extLst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AB-46F3-874B-E13B173D699B}"/>
              </c:ext>
            </c:extLst>
          </c:dPt>
          <c:dPt>
            <c:idx val="3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AB-46F3-874B-E13B173D699B}"/>
              </c:ext>
            </c:extLst>
          </c:dPt>
          <c:dPt>
            <c:idx val="4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AB-46F3-874B-E13B173D699B}"/>
              </c:ext>
            </c:extLst>
          </c:dPt>
          <c:dPt>
            <c:idx val="5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0AB-46F3-874B-E13B173D699B}"/>
              </c:ext>
            </c:extLst>
          </c:dPt>
          <c:dPt>
            <c:idx val="6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0AB-46F3-874B-E13B173D699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E8ECF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 case</c:v>
                </c:pt>
                <c:pt idx="1">
                  <c:v>Price $2,000/kg</c:v>
                </c:pt>
                <c:pt idx="2">
                  <c:v>Launch $90M</c:v>
                </c:pt>
                <c:pt idx="3">
                  <c:v>2-yr delay</c:v>
                </c:pt>
                <c:pt idx="4">
                  <c:v>Price $700/kg</c:v>
                </c:pt>
                <c:pt idx="5">
                  <c:v>Hardware cost x2</c:v>
                </c:pt>
                <c:pt idx="6">
                  <c:v>Water yield -50%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14.1</c:v>
                </c:pt>
                <c:pt idx="1">
                  <c:v>26.1</c:v>
                </c:pt>
                <c:pt idx="2">
                  <c:v>12.2</c:v>
                </c:pt>
                <c:pt idx="3">
                  <c:v>10.8</c:v>
                </c:pt>
                <c:pt idx="4">
                  <c:v>8.6999999999999993</c:v>
                </c:pt>
                <c:pt idx="5">
                  <c:v>8.5</c:v>
                </c:pt>
                <c:pt idx="6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0AB-46F3-874B-E13B173D69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C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AA5C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9AA5C0"/>
                </a:solidFill>
                <a:latin typeface="Calibri"/>
              </a:rPr>
              <a:t>Cumulative cash by year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 ($M)</c:v>
                </c:pt>
              </c:strCache>
            </c:strRef>
          </c:tx>
          <c:spPr>
            <a:solidFill>
              <a:srgbClr val="5BD6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51-4247-AB53-B2AF23625C13}"/>
              </c:ext>
            </c:extLst>
          </c:dPt>
          <c:dPt>
            <c:idx val="1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51-4247-AB53-B2AF23625C13}"/>
              </c:ext>
            </c:extLst>
          </c:dPt>
          <c:dPt>
            <c:idx val="2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51-4247-AB53-B2AF23625C13}"/>
              </c:ext>
            </c:extLst>
          </c:dPt>
          <c:dPt>
            <c:idx val="3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51-4247-AB53-B2AF23625C13}"/>
              </c:ext>
            </c:extLst>
          </c:dPt>
          <c:dPt>
            <c:idx val="4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51-4247-AB53-B2AF23625C13}"/>
              </c:ext>
            </c:extLst>
          </c:dPt>
          <c:dPt>
            <c:idx val="5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51-4247-AB53-B2AF23625C13}"/>
              </c:ext>
            </c:extLst>
          </c:dPt>
          <c:dPt>
            <c:idx val="6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251-4247-AB53-B2AF23625C13}"/>
              </c:ext>
            </c:extLst>
          </c:dPt>
          <c:dPt>
            <c:idx val="7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251-4247-AB53-B2AF23625C13}"/>
              </c:ext>
            </c:extLst>
          </c:dPt>
          <c:dPt>
            <c:idx val="8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251-4247-AB53-B2AF23625C13}"/>
              </c:ext>
            </c:extLst>
          </c:dPt>
          <c:dPt>
            <c:idx val="9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251-4247-AB53-B2AF23625C13}"/>
              </c:ext>
            </c:extLst>
          </c:dPt>
          <c:dPt>
            <c:idx val="10"/>
            <c:invertIfNegative val="0"/>
            <c:bubble3D val="0"/>
            <c:spPr>
              <a:solidFill>
                <a:srgbClr val="FF8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251-4247-AB53-B2AF23625C1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5251-4247-AB53-B2AF23625C1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5251-4247-AB53-B2AF23625C1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5251-4247-AB53-B2AF23625C13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5251-4247-AB53-B2AF23625C1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5251-4247-AB53-B2AF23625C13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5251-4247-AB53-B2AF23625C13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5251-4247-AB53-B2AF23625C13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5251-4247-AB53-B2AF23625C13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5251-4247-AB53-B2AF23625C13}"/>
              </c:ext>
            </c:extLst>
          </c:dPt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-80</c:v>
                </c:pt>
                <c:pt idx="1">
                  <c:v>-160</c:v>
                </c:pt>
                <c:pt idx="2">
                  <c:v>-402</c:v>
                </c:pt>
                <c:pt idx="3">
                  <c:v>-774</c:v>
                </c:pt>
                <c:pt idx="4">
                  <c:v>-954</c:v>
                </c:pt>
                <c:pt idx="5">
                  <c:v>-1126</c:v>
                </c:pt>
                <c:pt idx="6">
                  <c:v>-1109</c:v>
                </c:pt>
                <c:pt idx="7">
                  <c:v>-1090</c:v>
                </c:pt>
                <c:pt idx="8">
                  <c:v>-1093</c:v>
                </c:pt>
                <c:pt idx="9">
                  <c:v>-745</c:v>
                </c:pt>
                <c:pt idx="10">
                  <c:v>-398</c:v>
                </c:pt>
                <c:pt idx="11">
                  <c:v>134</c:v>
                </c:pt>
                <c:pt idx="12">
                  <c:v>480</c:v>
                </c:pt>
                <c:pt idx="13">
                  <c:v>1010</c:v>
                </c:pt>
                <c:pt idx="14">
                  <c:v>1355</c:v>
                </c:pt>
                <c:pt idx="15">
                  <c:v>1700</c:v>
                </c:pt>
                <c:pt idx="16">
                  <c:v>2229</c:v>
                </c:pt>
                <c:pt idx="17">
                  <c:v>2572</c:v>
                </c:pt>
                <c:pt idx="18">
                  <c:v>3099</c:v>
                </c:pt>
                <c:pt idx="19">
                  <c:v>3441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5251-4247-AB53-B2AF23625C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C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CF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09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and target. Bennu chosen because returned samples are mostly hydrated clay; hydrogen 0.71 wt% maps to roughly 6 wt% water-equivalent, we plan on 5. Delta-v values are our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mining concept (NIAC / TransAstra) and the Honeybee steam-hopper test (87% recovery). Energy 5.8 MJ/kg water with 50% heat recovery. Thruster Isp 500 s is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CAPEX split from our model. Launch $60M per flight is an assumption, a $90M contract has been reported. Learning curve 85%.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comparison is qualitative. IRR sensitivities come straight from the cost model. Earth baseline $/kg are our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Customers: Orbit Fab, Astroscale, Space Force refuelling demos; ULA public bid $1,000/kg lunar orbit. Demand of 400 t/yr is our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Cash: 8 Starship launches, 6 tugs, 2 bases. Break-even year 11, NPV $395M at 10%, IRR 14.1%.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21308" y="227076"/>
            <a:ext cx="32004" cy="32004"/>
          </a:xfrm>
          <a:prstGeom prst="ellipse">
            <a:avLst/>
          </a:prstGeom>
          <a:solidFill>
            <a:srgbClr val="FFFFFF">
              <a:alpha val="1767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59727" y="707200"/>
            <a:ext cx="32004" cy="32004"/>
          </a:xfrm>
          <a:prstGeom prst="ellipse">
            <a:avLst/>
          </a:prstGeom>
          <a:solidFill>
            <a:srgbClr val="FFFFFF">
              <a:alpha val="4408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29466" y="2625794"/>
            <a:ext cx="32004" cy="32004"/>
          </a:xfrm>
          <a:prstGeom prst="ellipse">
            <a:avLst/>
          </a:prstGeom>
          <a:solidFill>
            <a:srgbClr val="FFFFFF">
              <a:alpha val="5967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27280" y="4823125"/>
            <a:ext cx="32004" cy="32004"/>
          </a:xfrm>
          <a:prstGeom prst="ellipse">
            <a:avLst/>
          </a:prstGeom>
          <a:solidFill>
            <a:srgbClr val="FFFFFF">
              <a:alpha val="4737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60079" y="94174"/>
            <a:ext cx="32004" cy="32004"/>
          </a:xfrm>
          <a:prstGeom prst="ellipse">
            <a:avLst/>
          </a:prstGeom>
          <a:solidFill>
            <a:srgbClr val="FFFFFF">
              <a:alpha val="25541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4950" y="4774041"/>
            <a:ext cx="32004" cy="32004"/>
          </a:xfrm>
          <a:prstGeom prst="ellipse">
            <a:avLst/>
          </a:prstGeom>
          <a:solidFill>
            <a:srgbClr val="FFFFFF">
              <a:alpha val="4922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81663" y="3680260"/>
            <a:ext cx="32004" cy="32004"/>
          </a:xfrm>
          <a:prstGeom prst="ellipse">
            <a:avLst/>
          </a:prstGeom>
          <a:solidFill>
            <a:srgbClr val="FFFFFF">
              <a:alpha val="1001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46805" y="2169811"/>
            <a:ext cx="32004" cy="32004"/>
          </a:xfrm>
          <a:prstGeom prst="ellipse">
            <a:avLst/>
          </a:prstGeom>
          <a:solidFill>
            <a:srgbClr val="FFFFFF">
              <a:alpha val="5097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72021" y="120576"/>
            <a:ext cx="32004" cy="32004"/>
          </a:xfrm>
          <a:prstGeom prst="ellipse">
            <a:avLst/>
          </a:prstGeom>
          <a:solidFill>
            <a:srgbClr val="FFFFFF">
              <a:alpha val="1264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27921" y="1768725"/>
            <a:ext cx="32004" cy="32004"/>
          </a:xfrm>
          <a:prstGeom prst="ellipse">
            <a:avLst/>
          </a:prstGeom>
          <a:solidFill>
            <a:srgbClr val="FFFFFF">
              <a:alpha val="1691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10650" y="2764812"/>
            <a:ext cx="32004" cy="32004"/>
          </a:xfrm>
          <a:prstGeom prst="ellipse">
            <a:avLst/>
          </a:prstGeom>
          <a:solidFill>
            <a:srgbClr val="FFFFFF">
              <a:alpha val="2764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926489" y="4665034"/>
            <a:ext cx="32004" cy="32004"/>
          </a:xfrm>
          <a:prstGeom prst="ellipse">
            <a:avLst/>
          </a:prstGeom>
          <a:solidFill>
            <a:srgbClr val="FFFFFF">
              <a:alpha val="1010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3616" y="261477"/>
            <a:ext cx="32004" cy="32004"/>
          </a:xfrm>
          <a:prstGeom prst="ellipse">
            <a:avLst/>
          </a:prstGeom>
          <a:solidFill>
            <a:srgbClr val="FFFFFF">
              <a:alpha val="19503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73415" y="495224"/>
            <a:ext cx="32004" cy="32004"/>
          </a:xfrm>
          <a:prstGeom prst="ellipse">
            <a:avLst/>
          </a:prstGeom>
          <a:solidFill>
            <a:srgbClr val="FFFFFF">
              <a:alpha val="1112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998577" y="3894081"/>
            <a:ext cx="32004" cy="32004"/>
          </a:xfrm>
          <a:prstGeom prst="ellipse">
            <a:avLst/>
          </a:prstGeom>
          <a:solidFill>
            <a:srgbClr val="FFFFFF">
              <a:alpha val="33917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23041" y="4840555"/>
            <a:ext cx="32004" cy="32004"/>
          </a:xfrm>
          <a:prstGeom prst="ellipse">
            <a:avLst/>
          </a:prstGeom>
          <a:solidFill>
            <a:srgbClr val="FFFFFF">
              <a:alpha val="3368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40941" y="739750"/>
            <a:ext cx="32004" cy="32004"/>
          </a:xfrm>
          <a:prstGeom prst="ellipse">
            <a:avLst/>
          </a:prstGeom>
          <a:solidFill>
            <a:srgbClr val="FFFFFF">
              <a:alpha val="56237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04985" y="3474774"/>
            <a:ext cx="32004" cy="32004"/>
          </a:xfrm>
          <a:prstGeom prst="ellipse">
            <a:avLst/>
          </a:prstGeom>
          <a:solidFill>
            <a:srgbClr val="FFFFFF">
              <a:alpha val="49149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81606" y="1828573"/>
            <a:ext cx="32004" cy="32004"/>
          </a:xfrm>
          <a:prstGeom prst="ellipse">
            <a:avLst/>
          </a:prstGeom>
          <a:solidFill>
            <a:srgbClr val="FFFFFF">
              <a:alpha val="1665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224959" y="4392213"/>
            <a:ext cx="32004" cy="32004"/>
          </a:xfrm>
          <a:prstGeom prst="ellipse">
            <a:avLst/>
          </a:prstGeom>
          <a:solidFill>
            <a:srgbClr val="FFFFFF">
              <a:alpha val="5056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56796" y="1711269"/>
            <a:ext cx="32004" cy="32004"/>
          </a:xfrm>
          <a:prstGeom prst="ellipse">
            <a:avLst/>
          </a:prstGeom>
          <a:solidFill>
            <a:srgbClr val="FFFFFF">
              <a:alpha val="176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35147" y="4495"/>
            <a:ext cx="32004" cy="32004"/>
          </a:xfrm>
          <a:prstGeom prst="ellipse">
            <a:avLst/>
          </a:prstGeom>
          <a:solidFill>
            <a:srgbClr val="FFFFFF">
              <a:alpha val="63874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60722" y="2479068"/>
            <a:ext cx="32004" cy="32004"/>
          </a:xfrm>
          <a:prstGeom prst="ellipse">
            <a:avLst/>
          </a:prstGeom>
          <a:solidFill>
            <a:srgbClr val="FFFFFF">
              <a:alpha val="23371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46105" y="1980669"/>
            <a:ext cx="32004" cy="32004"/>
          </a:xfrm>
          <a:prstGeom prst="ellipse">
            <a:avLst/>
          </a:prstGeom>
          <a:solidFill>
            <a:srgbClr val="FFFFFF">
              <a:alpha val="55991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85812" y="4193362"/>
            <a:ext cx="32004" cy="32004"/>
          </a:xfrm>
          <a:prstGeom prst="ellipse">
            <a:avLst/>
          </a:prstGeom>
          <a:solidFill>
            <a:srgbClr val="FFFFFF">
              <a:alpha val="2505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13948" y="3477549"/>
            <a:ext cx="32004" cy="32004"/>
          </a:xfrm>
          <a:prstGeom prst="ellipse">
            <a:avLst/>
          </a:prstGeom>
          <a:solidFill>
            <a:srgbClr val="FFFFFF">
              <a:alpha val="34077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76379" y="94193"/>
            <a:ext cx="32004" cy="32004"/>
          </a:xfrm>
          <a:prstGeom prst="ellipse">
            <a:avLst/>
          </a:prstGeom>
          <a:solidFill>
            <a:srgbClr val="FFFFFF">
              <a:alpha val="219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828979" y="4518185"/>
            <a:ext cx="32004" cy="32004"/>
          </a:xfrm>
          <a:prstGeom prst="ellipse">
            <a:avLst/>
          </a:prstGeom>
          <a:solidFill>
            <a:srgbClr val="FFFFFF">
              <a:alpha val="51337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04638" y="5019849"/>
            <a:ext cx="32004" cy="32004"/>
          </a:xfrm>
          <a:prstGeom prst="ellipse">
            <a:avLst/>
          </a:prstGeom>
          <a:solidFill>
            <a:srgbClr val="FFFFFF">
              <a:alpha val="23674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90788" y="1580571"/>
            <a:ext cx="32004" cy="32004"/>
          </a:xfrm>
          <a:prstGeom prst="ellipse">
            <a:avLst/>
          </a:prstGeom>
          <a:solidFill>
            <a:srgbClr val="FFFFFF">
              <a:alpha val="60342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09820" y="4828664"/>
            <a:ext cx="32004" cy="32004"/>
          </a:xfrm>
          <a:prstGeom prst="ellipse">
            <a:avLst/>
          </a:prstGeom>
          <a:solidFill>
            <a:srgbClr val="FFFFFF">
              <a:alpha val="19205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6526" y="4318074"/>
            <a:ext cx="32004" cy="32004"/>
          </a:xfrm>
          <a:prstGeom prst="ellipse">
            <a:avLst/>
          </a:prstGeom>
          <a:solidFill>
            <a:srgbClr val="FFFFFF">
              <a:alpha val="37579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253066" y="3313143"/>
            <a:ext cx="32004" cy="32004"/>
          </a:xfrm>
          <a:prstGeom prst="ellipse">
            <a:avLst/>
          </a:prstGeom>
          <a:solidFill>
            <a:srgbClr val="FFFFFF">
              <a:alpha val="5742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1005840"/>
            <a:ext cx="2468880" cy="2286000"/>
          </a:xfrm>
          <a:prstGeom prst="ellipse">
            <a:avLst/>
          </a:prstGeom>
          <a:solidFill>
            <a:srgbClr val="2B3046"/>
          </a:solidFill>
          <a:ln w="19050">
            <a:solidFill>
              <a:srgbClr val="4A52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583680" y="1554480"/>
            <a:ext cx="457200" cy="384048"/>
          </a:xfrm>
          <a:prstGeom prst="ellipse">
            <a:avLst/>
          </a:prstGeom>
          <a:solidFill>
            <a:srgbClr val="1D2236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2194560"/>
            <a:ext cx="640080" cy="502920"/>
          </a:xfrm>
          <a:prstGeom prst="ellipse">
            <a:avLst/>
          </a:prstGeom>
          <a:solidFill>
            <a:srgbClr val="1D2236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2468880"/>
            <a:ext cx="292608" cy="256032"/>
          </a:xfrm>
          <a:prstGeom prst="ellipse">
            <a:avLst/>
          </a:prstGeom>
          <a:solidFill>
            <a:srgbClr val="1D2236"/>
          </a:solidFill>
          <a:ln/>
        </p:spPr>
      </p:sp>
      <p:sp>
        <p:nvSpPr>
          <p:cNvPr id="39" name="Shape 37"/>
          <p:cNvSpPr/>
          <p:nvPr/>
        </p:nvSpPr>
        <p:spPr>
          <a:xfrm>
            <a:off x="7086600" y="1234440"/>
            <a:ext cx="228600" cy="182880"/>
          </a:xfrm>
          <a:prstGeom prst="ellipse">
            <a:avLst/>
          </a:prstGeom>
          <a:solidFill>
            <a:srgbClr val="1D2236"/>
          </a:solidFill>
          <a:ln/>
        </p:spPr>
      </p:sp>
      <p:sp>
        <p:nvSpPr>
          <p:cNvPr id="40" name="Shape 38"/>
          <p:cNvSpPr/>
          <p:nvPr/>
        </p:nvSpPr>
        <p:spPr>
          <a:xfrm>
            <a:off x="7726680" y="1463040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 A C   W A R S   ·   P S  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AA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the Asteroid Belt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1417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</a:rPr>
              <a:t>BENNU WELL</a:t>
            </a:r>
            <a:endParaRPr lang="en-US" sz="5000" dirty="0"/>
          </a:p>
        </p:txBody>
      </p:sp>
      <p:sp>
        <p:nvSpPr>
          <p:cNvPr id="44" name="Text 42"/>
          <p:cNvSpPr txBox="1"/>
          <p:nvPr/>
        </p:nvSpPr>
        <p:spPr>
          <a:xfrm>
            <a:off x="483385" y="310901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8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“</a:t>
            </a:r>
            <a:r>
              <a:rPr lang="en-US" i="1" dirty="0">
                <a:solidFill>
                  <a:srgbClr val="E8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1800" i="1" dirty="0">
                <a:solidFill>
                  <a:srgbClr val="E8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orget  platinum</a:t>
            </a:r>
            <a:r>
              <a:rPr lang="en-US" i="1" dirty="0">
                <a:solidFill>
                  <a:srgbClr val="E8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Han. Water is the real treasure.”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pitch for Han Solo &amp; Chewbacca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Mandi  ·  Team: </a:t>
            </a:r>
            <a:r>
              <a:rPr lang="en-US" sz="120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Infinity 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E9DD87-E9C5-B8E2-9E96-6F372AED60E4}"/>
              </a:ext>
            </a:extLst>
          </p:cNvPr>
          <p:cNvSpPr txBox="1"/>
          <p:nvPr/>
        </p:nvSpPr>
        <p:spPr>
          <a:xfrm>
            <a:off x="457200" y="2113671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Turning Asteroid Resources into a Water Supply for Space</a:t>
            </a:r>
            <a:r>
              <a:rPr lang="en-US" dirty="0">
                <a:latin typeface="Arial Rounded MT Bold" panose="020F0704030504030204" pitchFamily="34" charset="0"/>
              </a:rPr>
              <a:t>urnig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451" y="2825913"/>
            <a:ext cx="32004" cy="32004"/>
          </a:xfrm>
          <a:prstGeom prst="ellipse">
            <a:avLst/>
          </a:prstGeom>
          <a:solidFill>
            <a:srgbClr val="FFFFFF">
              <a:alpha val="1703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3777" y="3881990"/>
            <a:ext cx="32004" cy="32004"/>
          </a:xfrm>
          <a:prstGeom prst="ellipse">
            <a:avLst/>
          </a:prstGeom>
          <a:solidFill>
            <a:srgbClr val="FFFFFF">
              <a:alpha val="5626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01186" y="3753505"/>
            <a:ext cx="32004" cy="32004"/>
          </a:xfrm>
          <a:prstGeom prst="ellipse">
            <a:avLst/>
          </a:prstGeom>
          <a:solidFill>
            <a:srgbClr val="FFFFFF">
              <a:alpha val="22383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4025" y="3606603"/>
            <a:ext cx="32004" cy="32004"/>
          </a:xfrm>
          <a:prstGeom prst="ellipse">
            <a:avLst/>
          </a:prstGeom>
          <a:solidFill>
            <a:srgbClr val="FFFFFF">
              <a:alpha val="1837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25260" y="1732407"/>
            <a:ext cx="32004" cy="32004"/>
          </a:xfrm>
          <a:prstGeom prst="ellipse">
            <a:avLst/>
          </a:prstGeom>
          <a:solidFill>
            <a:srgbClr val="FFFFFF">
              <a:alpha val="3736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49963" y="3974101"/>
            <a:ext cx="32004" cy="32004"/>
          </a:xfrm>
          <a:prstGeom prst="ellipse">
            <a:avLst/>
          </a:prstGeom>
          <a:solidFill>
            <a:srgbClr val="FFFFFF">
              <a:alpha val="10911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93297" y="1865088"/>
            <a:ext cx="32004" cy="32004"/>
          </a:xfrm>
          <a:prstGeom prst="ellipse">
            <a:avLst/>
          </a:prstGeom>
          <a:solidFill>
            <a:srgbClr val="FFFFFF">
              <a:alpha val="1515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282373" y="3325579"/>
            <a:ext cx="32004" cy="32004"/>
          </a:xfrm>
          <a:prstGeom prst="ellipse">
            <a:avLst/>
          </a:prstGeom>
          <a:solidFill>
            <a:srgbClr val="FFFFFF">
              <a:alpha val="2669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43091" y="4704168"/>
            <a:ext cx="32004" cy="32004"/>
          </a:xfrm>
          <a:prstGeom prst="ellipse">
            <a:avLst/>
          </a:prstGeom>
          <a:solidFill>
            <a:srgbClr val="FFFFFF">
              <a:alpha val="2210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5437" y="2992177"/>
            <a:ext cx="32004" cy="32004"/>
          </a:xfrm>
          <a:prstGeom prst="ellipse">
            <a:avLst/>
          </a:prstGeom>
          <a:solidFill>
            <a:srgbClr val="FFFFFF">
              <a:alpha val="37091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01190" y="1296934"/>
            <a:ext cx="32004" cy="32004"/>
          </a:xfrm>
          <a:prstGeom prst="ellipse">
            <a:avLst/>
          </a:prstGeom>
          <a:solidFill>
            <a:srgbClr val="FFFFFF">
              <a:alpha val="5396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2436" y="4521823"/>
            <a:ext cx="32004" cy="32004"/>
          </a:xfrm>
          <a:prstGeom prst="ellipse">
            <a:avLst/>
          </a:prstGeom>
          <a:solidFill>
            <a:srgbClr val="FFFFFF">
              <a:alpha val="4277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76245" y="1772159"/>
            <a:ext cx="32004" cy="32004"/>
          </a:xfrm>
          <a:prstGeom prst="ellipse">
            <a:avLst/>
          </a:prstGeom>
          <a:solidFill>
            <a:srgbClr val="FFFFFF">
              <a:alpha val="45804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71885" y="1393368"/>
            <a:ext cx="32004" cy="32004"/>
          </a:xfrm>
          <a:prstGeom prst="ellipse">
            <a:avLst/>
          </a:prstGeom>
          <a:solidFill>
            <a:srgbClr val="FFFFFF">
              <a:alpha val="38943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29194" y="1450368"/>
            <a:ext cx="32004" cy="32004"/>
          </a:xfrm>
          <a:prstGeom prst="ellipse">
            <a:avLst/>
          </a:prstGeom>
          <a:solidFill>
            <a:srgbClr val="FFFFFF">
              <a:alpha val="1212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8389" y="3130764"/>
            <a:ext cx="32004" cy="32004"/>
          </a:xfrm>
          <a:prstGeom prst="ellipse">
            <a:avLst/>
          </a:prstGeom>
          <a:solidFill>
            <a:srgbClr val="FFFFFF">
              <a:alpha val="29412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83212" y="3442974"/>
            <a:ext cx="32004" cy="32004"/>
          </a:xfrm>
          <a:prstGeom prst="ellipse">
            <a:avLst/>
          </a:prstGeom>
          <a:solidFill>
            <a:srgbClr val="FFFFFF">
              <a:alpha val="6406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35372" y="1908987"/>
            <a:ext cx="32004" cy="32004"/>
          </a:xfrm>
          <a:prstGeom prst="ellipse">
            <a:avLst/>
          </a:prstGeom>
          <a:solidFill>
            <a:srgbClr val="FFFFFF">
              <a:alpha val="31389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54021" y="4361860"/>
            <a:ext cx="32004" cy="32004"/>
          </a:xfrm>
          <a:prstGeom prst="ellipse">
            <a:avLst/>
          </a:prstGeom>
          <a:solidFill>
            <a:srgbClr val="FFFFFF">
              <a:alpha val="19413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39207" y="3734020"/>
            <a:ext cx="32004" cy="32004"/>
          </a:xfrm>
          <a:prstGeom prst="ellipse">
            <a:avLst/>
          </a:prstGeom>
          <a:solidFill>
            <a:srgbClr val="FFFFFF">
              <a:alpha val="28773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55941" y="1834285"/>
            <a:ext cx="32004" cy="32004"/>
          </a:xfrm>
          <a:prstGeom prst="ellipse">
            <a:avLst/>
          </a:prstGeom>
          <a:solidFill>
            <a:srgbClr val="FFFFFF">
              <a:alpha val="1177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620257" y="2918862"/>
            <a:ext cx="32004" cy="32004"/>
          </a:xfrm>
          <a:prstGeom prst="ellipse">
            <a:avLst/>
          </a:prstGeom>
          <a:solidFill>
            <a:srgbClr val="FFFFFF">
              <a:alpha val="3766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85635" y="3511281"/>
            <a:ext cx="32004" cy="32004"/>
          </a:xfrm>
          <a:prstGeom prst="ellipse">
            <a:avLst/>
          </a:prstGeom>
          <a:solidFill>
            <a:srgbClr val="FFFFFF">
              <a:alpha val="48951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14909" y="3959771"/>
            <a:ext cx="32004" cy="32004"/>
          </a:xfrm>
          <a:prstGeom prst="ellipse">
            <a:avLst/>
          </a:prstGeom>
          <a:solidFill>
            <a:srgbClr val="FFFFFF">
              <a:alpha val="5988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235494" y="3149940"/>
            <a:ext cx="32004" cy="32004"/>
          </a:xfrm>
          <a:prstGeom prst="ellipse">
            <a:avLst/>
          </a:prstGeom>
          <a:solidFill>
            <a:srgbClr val="FFFFFF">
              <a:alpha val="24691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91624" y="3915558"/>
            <a:ext cx="32004" cy="32004"/>
          </a:xfrm>
          <a:prstGeom prst="ellipse">
            <a:avLst/>
          </a:prstGeom>
          <a:solidFill>
            <a:srgbClr val="FFFFFF">
              <a:alpha val="4637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09749" y="2457541"/>
            <a:ext cx="32004" cy="32004"/>
          </a:xfrm>
          <a:prstGeom prst="ellipse">
            <a:avLst/>
          </a:prstGeom>
          <a:solidFill>
            <a:srgbClr val="FFFFFF">
              <a:alpha val="2022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85125" y="2360256"/>
            <a:ext cx="32004" cy="32004"/>
          </a:xfrm>
          <a:prstGeom prst="ellipse">
            <a:avLst/>
          </a:prstGeom>
          <a:solidFill>
            <a:srgbClr val="FFFFFF">
              <a:alpha val="26559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92790" y="4261092"/>
            <a:ext cx="32004" cy="32004"/>
          </a:xfrm>
          <a:prstGeom prst="ellipse">
            <a:avLst/>
          </a:prstGeom>
          <a:solidFill>
            <a:srgbClr val="FFFFFF">
              <a:alpha val="61013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925730" y="4604360"/>
            <a:ext cx="32004" cy="32004"/>
          </a:xfrm>
          <a:prstGeom prst="ellipse">
            <a:avLst/>
          </a:prstGeom>
          <a:solidFill>
            <a:srgbClr val="FFFFFF">
              <a:alpha val="52083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179994" y="1959505"/>
            <a:ext cx="32004" cy="32004"/>
          </a:xfrm>
          <a:prstGeom prst="ellipse">
            <a:avLst/>
          </a:prstGeom>
          <a:solidFill>
            <a:srgbClr val="FFFFFF">
              <a:alpha val="4087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04813" y="1972860"/>
            <a:ext cx="32004" cy="32004"/>
          </a:xfrm>
          <a:prstGeom prst="ellipse">
            <a:avLst/>
          </a:prstGeom>
          <a:solidFill>
            <a:srgbClr val="FFFFFF">
              <a:alpha val="6127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94114" y="2701490"/>
            <a:ext cx="32004" cy="32004"/>
          </a:xfrm>
          <a:prstGeom prst="ellipse">
            <a:avLst/>
          </a:prstGeom>
          <a:solidFill>
            <a:srgbClr val="FFFFFF">
              <a:alpha val="6143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33579" y="1382580"/>
            <a:ext cx="32004" cy="32004"/>
          </a:xfrm>
          <a:prstGeom prst="ellipse">
            <a:avLst/>
          </a:prstGeom>
          <a:solidFill>
            <a:srgbClr val="FFFFFF">
              <a:alpha val="41891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93127" y="4282512"/>
            <a:ext cx="32004" cy="32004"/>
          </a:xfrm>
          <a:prstGeom prst="ellipse">
            <a:avLst/>
          </a:prstGeom>
          <a:solidFill>
            <a:srgbClr val="FFFFFF">
              <a:alpha val="29012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359246" y="3932800"/>
            <a:ext cx="32004" cy="32004"/>
          </a:xfrm>
          <a:prstGeom prst="ellipse">
            <a:avLst/>
          </a:prstGeom>
          <a:solidFill>
            <a:srgbClr val="FFFFFF">
              <a:alpha val="12265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1987" y="4690969"/>
            <a:ext cx="32004" cy="32004"/>
          </a:xfrm>
          <a:prstGeom prst="ellipse">
            <a:avLst/>
          </a:prstGeom>
          <a:solidFill>
            <a:srgbClr val="FFFFFF">
              <a:alpha val="2809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64113" y="1426930"/>
            <a:ext cx="32004" cy="32004"/>
          </a:xfrm>
          <a:prstGeom prst="ellipse">
            <a:avLst/>
          </a:prstGeom>
          <a:solidFill>
            <a:srgbClr val="FFFFFF">
              <a:alpha val="3011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199054" y="3863623"/>
            <a:ext cx="32004" cy="32004"/>
          </a:xfrm>
          <a:prstGeom prst="ellipse">
            <a:avLst/>
          </a:prstGeom>
          <a:solidFill>
            <a:srgbClr val="FFFFFF">
              <a:alpha val="22295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6121" y="4038563"/>
            <a:ext cx="32004" cy="32004"/>
          </a:xfrm>
          <a:prstGeom prst="ellipse">
            <a:avLst/>
          </a:prstGeom>
          <a:solidFill>
            <a:srgbClr val="FFFFFF">
              <a:alpha val="42635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433428" y="4560797"/>
            <a:ext cx="32004" cy="32004"/>
          </a:xfrm>
          <a:prstGeom prst="ellipse">
            <a:avLst/>
          </a:prstGeom>
          <a:solidFill>
            <a:srgbClr val="FFFFFF">
              <a:alpha val="29114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75585" y="1470992"/>
            <a:ext cx="32004" cy="32004"/>
          </a:xfrm>
          <a:prstGeom prst="ellipse">
            <a:avLst/>
          </a:prstGeom>
          <a:solidFill>
            <a:srgbClr val="FFFFFF">
              <a:alpha val="16437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3598" y="2276225"/>
            <a:ext cx="32004" cy="32004"/>
          </a:xfrm>
          <a:prstGeom prst="ellipse">
            <a:avLst/>
          </a:prstGeom>
          <a:solidFill>
            <a:srgbClr val="FFFFFF">
              <a:alpha val="1665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86751" y="4708905"/>
            <a:ext cx="32004" cy="32004"/>
          </a:xfrm>
          <a:prstGeom prst="ellipse">
            <a:avLst/>
          </a:prstGeom>
          <a:solidFill>
            <a:srgbClr val="FFFFFF">
              <a:alpha val="3129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32456" y="4026792"/>
            <a:ext cx="32004" cy="32004"/>
          </a:xfrm>
          <a:prstGeom prst="ellipse">
            <a:avLst/>
          </a:prstGeom>
          <a:solidFill>
            <a:srgbClr val="FFFFFF">
              <a:alpha val="61163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916673" y="3536849"/>
            <a:ext cx="32004" cy="32004"/>
          </a:xfrm>
          <a:prstGeom prst="ellipse">
            <a:avLst/>
          </a:prstGeom>
          <a:solidFill>
            <a:srgbClr val="FFFFFF">
              <a:alpha val="2455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09981" y="1443609"/>
            <a:ext cx="32004" cy="32004"/>
          </a:xfrm>
          <a:prstGeom prst="ellipse">
            <a:avLst/>
          </a:prstGeom>
          <a:solidFill>
            <a:srgbClr val="FFFFFF">
              <a:alpha val="44425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203970" y="4503523"/>
            <a:ext cx="32004" cy="32004"/>
          </a:xfrm>
          <a:prstGeom prst="ellipse">
            <a:avLst/>
          </a:prstGeom>
          <a:solidFill>
            <a:srgbClr val="FFFFFF">
              <a:alpha val="51273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264845" y="4653389"/>
            <a:ext cx="32004" cy="32004"/>
          </a:xfrm>
          <a:prstGeom prst="ellipse">
            <a:avLst/>
          </a:prstGeom>
          <a:solidFill>
            <a:srgbClr val="FFFFFF">
              <a:alpha val="60425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952818" y="2071318"/>
            <a:ext cx="32004" cy="32004"/>
          </a:xfrm>
          <a:prstGeom prst="ellipse">
            <a:avLst/>
          </a:prstGeom>
          <a:solidFill>
            <a:srgbClr val="FFFFFF">
              <a:alpha val="59345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83383" y="3674136"/>
            <a:ext cx="32004" cy="32004"/>
          </a:xfrm>
          <a:prstGeom prst="ellipse">
            <a:avLst/>
          </a:prstGeom>
          <a:solidFill>
            <a:srgbClr val="FFFFFF">
              <a:alpha val="35592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870301" y="3058089"/>
            <a:ext cx="32004" cy="32004"/>
          </a:xfrm>
          <a:prstGeom prst="ellipse">
            <a:avLst/>
          </a:prstGeom>
          <a:solidFill>
            <a:srgbClr val="FFFFFF">
              <a:alpha val="2226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419235" y="2799396"/>
            <a:ext cx="32004" cy="32004"/>
          </a:xfrm>
          <a:prstGeom prst="ellipse">
            <a:avLst/>
          </a:prstGeom>
          <a:solidFill>
            <a:srgbClr val="FFFFFF">
              <a:alpha val="5092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60540" y="3620387"/>
            <a:ext cx="32004" cy="32004"/>
          </a:xfrm>
          <a:prstGeom prst="ellipse">
            <a:avLst/>
          </a:prstGeom>
          <a:solidFill>
            <a:srgbClr val="FFFFFF">
              <a:alpha val="14874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543493" y="3279096"/>
            <a:ext cx="32004" cy="32004"/>
          </a:xfrm>
          <a:prstGeom prst="ellipse">
            <a:avLst/>
          </a:prstGeom>
          <a:solidFill>
            <a:srgbClr val="FFFFFF">
              <a:alpha val="4544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61184" y="3233396"/>
            <a:ext cx="32004" cy="32004"/>
          </a:xfrm>
          <a:prstGeom prst="ellipse">
            <a:avLst/>
          </a:prstGeom>
          <a:solidFill>
            <a:srgbClr val="FFFFFF">
              <a:alpha val="30227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65042" y="2102803"/>
            <a:ext cx="32004" cy="32004"/>
          </a:xfrm>
          <a:prstGeom prst="ellipse">
            <a:avLst/>
          </a:prstGeom>
          <a:solidFill>
            <a:srgbClr val="FFFFFF">
              <a:alpha val="4724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85535" y="1942120"/>
            <a:ext cx="32004" cy="32004"/>
          </a:xfrm>
          <a:prstGeom prst="ellipse">
            <a:avLst/>
          </a:prstGeom>
          <a:solidFill>
            <a:srgbClr val="FFFFFF">
              <a:alpha val="46415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63670" y="2377072"/>
            <a:ext cx="32004" cy="32004"/>
          </a:xfrm>
          <a:prstGeom prst="ellipse">
            <a:avLst/>
          </a:prstGeom>
          <a:solidFill>
            <a:srgbClr val="FFFFFF">
              <a:alpha val="15559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543758" y="1748028"/>
            <a:ext cx="32004" cy="32004"/>
          </a:xfrm>
          <a:prstGeom prst="ellipse">
            <a:avLst/>
          </a:prstGeom>
          <a:solidFill>
            <a:srgbClr val="FFFFFF">
              <a:alpha val="2612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3037" y="4347774"/>
            <a:ext cx="32004" cy="32004"/>
          </a:xfrm>
          <a:prstGeom prst="ellipse">
            <a:avLst/>
          </a:prstGeom>
          <a:solidFill>
            <a:srgbClr val="FFFFFF">
              <a:alpha val="23454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189472" y="1937555"/>
            <a:ext cx="32004" cy="32004"/>
          </a:xfrm>
          <a:prstGeom prst="ellipse">
            <a:avLst/>
          </a:prstGeom>
          <a:solidFill>
            <a:srgbClr val="FFFFFF">
              <a:alpha val="6051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474802" y="4657918"/>
            <a:ext cx="32004" cy="32004"/>
          </a:xfrm>
          <a:prstGeom prst="ellipse">
            <a:avLst/>
          </a:prstGeom>
          <a:solidFill>
            <a:srgbClr val="FFFFFF">
              <a:alpha val="52949"/>
            </a:srgbClr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A  ·  ENGINEERING  ·  1 / 2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Bennu, mine water, sell it near the Moon</a:t>
            </a:r>
            <a:endParaRPr lang="en-US" sz="26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A: how the ship gets there, what it mines, where the cargo goes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4846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trip (our model): 316 t mined, 116 t burned on the way home, 185 t sold. Bennu water content from OSIRIS-REx hydrogen map (0.71 wt% H).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65760" y="1234440"/>
            <a:ext cx="5486400" cy="3474720"/>
          </a:xfrm>
          <a:prstGeom prst="rect">
            <a:avLst/>
          </a:prstGeom>
          <a:solidFill>
            <a:srgbClr val="070B18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4360" y="2880360"/>
            <a:ext cx="1051560" cy="1051560"/>
          </a:xfrm>
          <a:prstGeom prst="ellipse">
            <a:avLst/>
          </a:prstGeom>
          <a:solidFill>
            <a:srgbClr val="1C5FA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94360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11480" y="2697480"/>
            <a:ext cx="1417320" cy="1417320"/>
          </a:xfrm>
          <a:prstGeom prst="ellipse">
            <a:avLst/>
          </a:prstGeom>
          <a:ln w="9525">
            <a:solidFill>
              <a:srgbClr val="9AA5C0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365760" y="4160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514600" y="3703320"/>
            <a:ext cx="365760" cy="365760"/>
          </a:xfrm>
          <a:prstGeom prst="ellipse">
            <a:avLst/>
          </a:prstGeom>
          <a:solidFill>
            <a:srgbClr val="8A8FA3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487168" y="4087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965960" y="3017520"/>
            <a:ext cx="1508760" cy="566928"/>
          </a:xfrm>
          <a:prstGeom prst="rect">
            <a:avLst/>
          </a:prstGeom>
          <a:solidFill>
            <a:srgbClr val="123327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65960" y="3017520"/>
            <a:ext cx="1508760" cy="566928"/>
          </a:xfrm>
          <a:prstGeom prst="rect">
            <a:avLst/>
          </a:prstGeom>
          <a:solidFill>
            <a:srgbClr val="123327"/>
          </a:solidFill>
          <a:ln w="12700">
            <a:solidFill>
              <a:srgbClr val="5BD6A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011680" y="30358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DEPOT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B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NRHO / L2: customers here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72000" y="1554480"/>
            <a:ext cx="914400" cy="731520"/>
          </a:xfrm>
          <a:prstGeom prst="ellipse">
            <a:avLst/>
          </a:prstGeom>
          <a:solidFill>
            <a:srgbClr val="4A4F68"/>
          </a:solidFill>
          <a:ln w="19050">
            <a:solidFill>
              <a:srgbClr val="7C84A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00600" y="1737360"/>
            <a:ext cx="182880" cy="155448"/>
          </a:xfrm>
          <a:prstGeom prst="ellipse">
            <a:avLst/>
          </a:prstGeom>
          <a:solidFill>
            <a:srgbClr val="2C3047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452628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BENNU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 flipV="1">
            <a:off x="1645920" y="1920240"/>
            <a:ext cx="2880360" cy="1005840"/>
          </a:xfrm>
          <a:prstGeom prst="line">
            <a:avLst/>
          </a:prstGeom>
          <a:noFill/>
          <a:ln w="22225">
            <a:solidFill>
              <a:srgbClr val="FFE81F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H="1">
            <a:off x="3474720" y="2148840"/>
            <a:ext cx="1051560" cy="914400"/>
          </a:xfrm>
          <a:prstGeom prst="line">
            <a:avLst/>
          </a:prstGeom>
          <a:noFill/>
          <a:ln w="22225">
            <a:solidFill>
              <a:srgbClr val="4FC3F7"/>
            </a:solidFill>
            <a:prstDash val="dash"/>
            <a:tailEnd type="triangle"/>
          </a:ln>
        </p:spPr>
      </p:sp>
      <p:sp>
        <p:nvSpPr>
          <p:cNvPr id="85" name="Text 83"/>
          <p:cNvSpPr txBox="1"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Starship drops tug in LEO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15544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Spiral out on water thrusters (~1 yr)</a:t>
            </a:r>
            <a:endParaRPr lang="en-US" sz="1050" dirty="0"/>
          </a:p>
        </p:txBody>
      </p:sp>
      <p:sp>
        <p:nvSpPr>
          <p:cNvPr id="87" name="Text 85"/>
          <p:cNvSpPr txBox="1"/>
          <p:nvPr/>
        </p:nvSpPr>
        <p:spPr>
          <a:xfrm>
            <a:off x="32004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Hover, anchor, mine ~300 days</a:t>
            </a:r>
            <a:endParaRPr lang="en-US" sz="1050" dirty="0"/>
          </a:p>
        </p:txBody>
      </p:sp>
      <p:sp>
        <p:nvSpPr>
          <p:cNvPr id="88" name="Text 86"/>
          <p:cNvSpPr txBox="1"/>
          <p:nvPr/>
        </p:nvSpPr>
        <p:spPr>
          <a:xfrm>
            <a:off x="35661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Home on Bennu water (~1 yr)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36576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B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Sell, refuel, repeat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502920" y="4343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2 km/s, return 1-2 km/s (assumed, tug is light and Bennu gravity is tiny)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6080760" y="1234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Bennu</a:t>
            </a:r>
            <a:endParaRPr lang="en-US" sz="2000" dirty="0"/>
          </a:p>
        </p:txBody>
      </p:sp>
      <p:sp>
        <p:nvSpPr>
          <p:cNvPr id="92" name="Text 90"/>
          <p:cNvSpPr txBox="1"/>
          <p:nvPr/>
        </p:nvSpPr>
        <p:spPr>
          <a:xfrm>
            <a:off x="6080760" y="1536192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m rubble pile, so almost no gravity to fight when leaving.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are over 80 vol% water-bearing clay; hydrogen map gives about 6 wt% water-equivalent. We plan on 5.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million tones of water at 5%. We need 5.5 thousand.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Ryugu was our first guess but its samples are almost dry (&lt;0.3 wt% interlayer water). Dropped.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080760" y="3749040"/>
            <a:ext cx="2651760" cy="960120"/>
          </a:xfrm>
          <a:prstGeom prst="rect">
            <a:avLst/>
          </a:prstGeom>
          <a:solidFill>
            <a:srgbClr val="1B1608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3749040"/>
            <a:ext cx="2651760" cy="960120"/>
          </a:xfrm>
          <a:prstGeom prst="rect">
            <a:avLst/>
          </a:prstGeom>
          <a:solidFill>
            <a:srgbClr val="1B1608"/>
          </a:solidFill>
          <a:ln w="12700">
            <a:solidFill>
              <a:srgbClr val="FFE81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172200" y="3785616"/>
            <a:ext cx="2468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catch: </a:t>
            </a:r>
            <a:r>
              <a:rPr lang="en-US" sz="1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Bennu is on the hazardous-asteroid list. We remove a tiny fraction of its mass, but expect regulators to ask.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8655" y="4270576"/>
            <a:ext cx="32004" cy="32004"/>
          </a:xfrm>
          <a:prstGeom prst="ellipse">
            <a:avLst/>
          </a:prstGeom>
          <a:solidFill>
            <a:srgbClr val="FFFFFF">
              <a:alpha val="2282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44346" y="4745192"/>
            <a:ext cx="32004" cy="32004"/>
          </a:xfrm>
          <a:prstGeom prst="ellipse">
            <a:avLst/>
          </a:prstGeom>
          <a:solidFill>
            <a:srgbClr val="FFFFFF">
              <a:alpha val="1676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50326" y="1844661"/>
            <a:ext cx="32004" cy="32004"/>
          </a:xfrm>
          <a:prstGeom prst="ellipse">
            <a:avLst/>
          </a:prstGeom>
          <a:solidFill>
            <a:srgbClr val="FFFFFF">
              <a:alpha val="2961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84274" y="4525388"/>
            <a:ext cx="32004" cy="32004"/>
          </a:xfrm>
          <a:prstGeom prst="ellipse">
            <a:avLst/>
          </a:prstGeom>
          <a:solidFill>
            <a:srgbClr val="FFFFFF">
              <a:alpha val="4737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55370" y="1534838"/>
            <a:ext cx="32004" cy="32004"/>
          </a:xfrm>
          <a:prstGeom prst="ellipse">
            <a:avLst/>
          </a:prstGeom>
          <a:solidFill>
            <a:srgbClr val="FFFFFF">
              <a:alpha val="5122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70633" y="2982076"/>
            <a:ext cx="32004" cy="32004"/>
          </a:xfrm>
          <a:prstGeom prst="ellipse">
            <a:avLst/>
          </a:prstGeom>
          <a:solidFill>
            <a:srgbClr val="FFFFFF">
              <a:alpha val="2369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15849" y="2824194"/>
            <a:ext cx="32004" cy="32004"/>
          </a:xfrm>
          <a:prstGeom prst="ellipse">
            <a:avLst/>
          </a:prstGeom>
          <a:solidFill>
            <a:srgbClr val="FFFFFF">
              <a:alpha val="57937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94871" y="1810568"/>
            <a:ext cx="32004" cy="32004"/>
          </a:xfrm>
          <a:prstGeom prst="ellipse">
            <a:avLst/>
          </a:prstGeom>
          <a:solidFill>
            <a:srgbClr val="FFFFFF">
              <a:alpha val="2612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951028" y="4445229"/>
            <a:ext cx="32004" cy="32004"/>
          </a:xfrm>
          <a:prstGeom prst="ellipse">
            <a:avLst/>
          </a:prstGeom>
          <a:solidFill>
            <a:srgbClr val="FFFFFF">
              <a:alpha val="4098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98678" y="1379687"/>
            <a:ext cx="32004" cy="32004"/>
          </a:xfrm>
          <a:prstGeom prst="ellipse">
            <a:avLst/>
          </a:prstGeom>
          <a:solidFill>
            <a:srgbClr val="FFFFFF">
              <a:alpha val="2365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56385" y="2314713"/>
            <a:ext cx="32004" cy="32004"/>
          </a:xfrm>
          <a:prstGeom prst="ellipse">
            <a:avLst/>
          </a:prstGeom>
          <a:solidFill>
            <a:srgbClr val="FFFFFF">
              <a:alpha val="37527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8617" y="1966106"/>
            <a:ext cx="32004" cy="32004"/>
          </a:xfrm>
          <a:prstGeom prst="ellipse">
            <a:avLst/>
          </a:prstGeom>
          <a:solidFill>
            <a:srgbClr val="FFFFFF">
              <a:alpha val="37592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937302" y="2011900"/>
            <a:ext cx="32004" cy="32004"/>
          </a:xfrm>
          <a:prstGeom prst="ellipse">
            <a:avLst/>
          </a:prstGeom>
          <a:solidFill>
            <a:srgbClr val="FFFFFF">
              <a:alpha val="35504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18970" y="3936429"/>
            <a:ext cx="32004" cy="32004"/>
          </a:xfrm>
          <a:prstGeom prst="ellipse">
            <a:avLst/>
          </a:prstGeom>
          <a:solidFill>
            <a:srgbClr val="FFFFFF">
              <a:alpha val="60263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80169" y="2869694"/>
            <a:ext cx="32004" cy="32004"/>
          </a:xfrm>
          <a:prstGeom prst="ellipse">
            <a:avLst/>
          </a:prstGeom>
          <a:solidFill>
            <a:srgbClr val="FFFFFF">
              <a:alpha val="5492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5818" y="2635425"/>
            <a:ext cx="32004" cy="32004"/>
          </a:xfrm>
          <a:prstGeom prst="ellipse">
            <a:avLst/>
          </a:prstGeom>
          <a:solidFill>
            <a:srgbClr val="FFFFFF">
              <a:alpha val="49494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9225" y="2216512"/>
            <a:ext cx="32004" cy="32004"/>
          </a:xfrm>
          <a:prstGeom prst="ellipse">
            <a:avLst/>
          </a:prstGeom>
          <a:solidFill>
            <a:srgbClr val="FFFFFF">
              <a:alpha val="47071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86882" y="2660458"/>
            <a:ext cx="32004" cy="32004"/>
          </a:xfrm>
          <a:prstGeom prst="ellipse">
            <a:avLst/>
          </a:prstGeom>
          <a:solidFill>
            <a:srgbClr val="FFFFFF">
              <a:alpha val="1326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85922" y="2970438"/>
            <a:ext cx="32004" cy="32004"/>
          </a:xfrm>
          <a:prstGeom prst="ellipse">
            <a:avLst/>
          </a:prstGeom>
          <a:solidFill>
            <a:srgbClr val="FFFFFF">
              <a:alpha val="1781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35678" y="2471277"/>
            <a:ext cx="32004" cy="32004"/>
          </a:xfrm>
          <a:prstGeom prst="ellipse">
            <a:avLst/>
          </a:prstGeom>
          <a:solidFill>
            <a:srgbClr val="FFFFFF">
              <a:alpha val="25459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82007" y="3766782"/>
            <a:ext cx="32004" cy="32004"/>
          </a:xfrm>
          <a:prstGeom prst="ellipse">
            <a:avLst/>
          </a:prstGeom>
          <a:solidFill>
            <a:srgbClr val="FFFFFF">
              <a:alpha val="5701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609121" y="4552575"/>
            <a:ext cx="32004" cy="32004"/>
          </a:xfrm>
          <a:prstGeom prst="ellipse">
            <a:avLst/>
          </a:prstGeom>
          <a:solidFill>
            <a:srgbClr val="FFFFFF">
              <a:alpha val="55319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42390" y="4451711"/>
            <a:ext cx="32004" cy="32004"/>
          </a:xfrm>
          <a:prstGeom prst="ellipse">
            <a:avLst/>
          </a:prstGeom>
          <a:solidFill>
            <a:srgbClr val="FFFFFF">
              <a:alpha val="5962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50527" y="3084729"/>
            <a:ext cx="32004" cy="32004"/>
          </a:xfrm>
          <a:prstGeom prst="ellipse">
            <a:avLst/>
          </a:prstGeom>
          <a:solidFill>
            <a:srgbClr val="FFFFFF">
              <a:alpha val="20751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003851" y="1822263"/>
            <a:ext cx="32004" cy="32004"/>
          </a:xfrm>
          <a:prstGeom prst="ellipse">
            <a:avLst/>
          </a:prstGeom>
          <a:solidFill>
            <a:srgbClr val="FFFFFF">
              <a:alpha val="2156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888227" y="3494184"/>
            <a:ext cx="32004" cy="32004"/>
          </a:xfrm>
          <a:prstGeom prst="ellipse">
            <a:avLst/>
          </a:prstGeom>
          <a:solidFill>
            <a:srgbClr val="FFFFFF">
              <a:alpha val="56363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99994" y="3015021"/>
            <a:ext cx="32004" cy="32004"/>
          </a:xfrm>
          <a:prstGeom prst="ellipse">
            <a:avLst/>
          </a:prstGeom>
          <a:solidFill>
            <a:srgbClr val="FFFFFF">
              <a:alpha val="18304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18919" y="2970882"/>
            <a:ext cx="32004" cy="32004"/>
          </a:xfrm>
          <a:prstGeom prst="ellipse">
            <a:avLst/>
          </a:prstGeom>
          <a:solidFill>
            <a:srgbClr val="FFFFFF">
              <a:alpha val="46261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33833" y="3508884"/>
            <a:ext cx="32004" cy="32004"/>
          </a:xfrm>
          <a:prstGeom prst="ellipse">
            <a:avLst/>
          </a:prstGeom>
          <a:solidFill>
            <a:srgbClr val="FFFFFF">
              <a:alpha val="49619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04038" y="3327460"/>
            <a:ext cx="32004" cy="32004"/>
          </a:xfrm>
          <a:prstGeom prst="ellipse">
            <a:avLst/>
          </a:prstGeom>
          <a:solidFill>
            <a:srgbClr val="FFFFFF">
              <a:alpha val="10939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89528" y="3243056"/>
            <a:ext cx="32004" cy="32004"/>
          </a:xfrm>
          <a:prstGeom prst="ellipse">
            <a:avLst/>
          </a:prstGeom>
          <a:solidFill>
            <a:srgbClr val="FFFFFF">
              <a:alpha val="14733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42215" y="4135034"/>
            <a:ext cx="32004" cy="32004"/>
          </a:xfrm>
          <a:prstGeom prst="ellipse">
            <a:avLst/>
          </a:prstGeom>
          <a:solidFill>
            <a:srgbClr val="FFFFFF">
              <a:alpha val="20899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31980" y="2514953"/>
            <a:ext cx="32004" cy="32004"/>
          </a:xfrm>
          <a:prstGeom prst="ellipse">
            <a:avLst/>
          </a:prstGeom>
          <a:solidFill>
            <a:srgbClr val="FFFFFF">
              <a:alpha val="27531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88358" y="4527750"/>
            <a:ext cx="32004" cy="32004"/>
          </a:xfrm>
          <a:prstGeom prst="ellipse">
            <a:avLst/>
          </a:prstGeom>
          <a:solidFill>
            <a:srgbClr val="FFFFFF">
              <a:alpha val="53393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83346" y="3766261"/>
            <a:ext cx="32004" cy="32004"/>
          </a:xfrm>
          <a:prstGeom prst="ellipse">
            <a:avLst/>
          </a:prstGeom>
          <a:solidFill>
            <a:srgbClr val="FFFFFF">
              <a:alpha val="42737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21516" y="4663631"/>
            <a:ext cx="32004" cy="32004"/>
          </a:xfrm>
          <a:prstGeom prst="ellipse">
            <a:avLst/>
          </a:prstGeom>
          <a:solidFill>
            <a:srgbClr val="FFFFFF">
              <a:alpha val="47863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15525" y="2386006"/>
            <a:ext cx="32004" cy="32004"/>
          </a:xfrm>
          <a:prstGeom prst="ellipse">
            <a:avLst/>
          </a:prstGeom>
          <a:solidFill>
            <a:srgbClr val="FFFFFF">
              <a:alpha val="23507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679778" y="4439313"/>
            <a:ext cx="32004" cy="32004"/>
          </a:xfrm>
          <a:prstGeom prst="ellipse">
            <a:avLst/>
          </a:prstGeom>
          <a:solidFill>
            <a:srgbClr val="FFFFFF">
              <a:alpha val="28369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3447" y="4136056"/>
            <a:ext cx="32004" cy="32004"/>
          </a:xfrm>
          <a:prstGeom prst="ellipse">
            <a:avLst/>
          </a:prstGeom>
          <a:solidFill>
            <a:srgbClr val="FFFFFF">
              <a:alpha val="53057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46780" y="4138669"/>
            <a:ext cx="32004" cy="32004"/>
          </a:xfrm>
          <a:prstGeom prst="ellipse">
            <a:avLst/>
          </a:prstGeom>
          <a:solidFill>
            <a:srgbClr val="FFFFFF">
              <a:alpha val="12783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14945" y="2291428"/>
            <a:ext cx="32004" cy="32004"/>
          </a:xfrm>
          <a:prstGeom prst="ellipse">
            <a:avLst/>
          </a:prstGeom>
          <a:solidFill>
            <a:srgbClr val="FFFFFF">
              <a:alpha val="27244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62443" y="3415054"/>
            <a:ext cx="32004" cy="32004"/>
          </a:xfrm>
          <a:prstGeom prst="ellipse">
            <a:avLst/>
          </a:prstGeom>
          <a:solidFill>
            <a:srgbClr val="FFFFFF">
              <a:alpha val="25822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997426" y="2140784"/>
            <a:ext cx="32004" cy="32004"/>
          </a:xfrm>
          <a:prstGeom prst="ellipse">
            <a:avLst/>
          </a:prstGeom>
          <a:solidFill>
            <a:srgbClr val="FFFFFF">
              <a:alpha val="51239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61726" y="3503345"/>
            <a:ext cx="32004" cy="32004"/>
          </a:xfrm>
          <a:prstGeom prst="ellipse">
            <a:avLst/>
          </a:prstGeom>
          <a:solidFill>
            <a:srgbClr val="FFFFFF">
              <a:alpha val="22591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991636" y="4423502"/>
            <a:ext cx="32004" cy="32004"/>
          </a:xfrm>
          <a:prstGeom prst="ellipse">
            <a:avLst/>
          </a:prstGeom>
          <a:solidFill>
            <a:srgbClr val="FFFFFF">
              <a:alpha val="19499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057518" y="4008567"/>
            <a:ext cx="32004" cy="32004"/>
          </a:xfrm>
          <a:prstGeom prst="ellipse">
            <a:avLst/>
          </a:prstGeom>
          <a:solidFill>
            <a:srgbClr val="FFFFFF">
              <a:alpha val="55953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282420" y="3769997"/>
            <a:ext cx="32004" cy="32004"/>
          </a:xfrm>
          <a:prstGeom prst="ellipse">
            <a:avLst/>
          </a:prstGeom>
          <a:solidFill>
            <a:srgbClr val="FFFFFF">
              <a:alpha val="1606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09865" y="3829681"/>
            <a:ext cx="32004" cy="32004"/>
          </a:xfrm>
          <a:prstGeom prst="ellipse">
            <a:avLst/>
          </a:prstGeom>
          <a:solidFill>
            <a:srgbClr val="FFFFFF">
              <a:alpha val="45859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579178" y="2552169"/>
            <a:ext cx="32004" cy="32004"/>
          </a:xfrm>
          <a:prstGeom prst="ellipse">
            <a:avLst/>
          </a:prstGeom>
          <a:solidFill>
            <a:srgbClr val="FFFFFF">
              <a:alpha val="62151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61178" y="2780439"/>
            <a:ext cx="32004" cy="32004"/>
          </a:xfrm>
          <a:prstGeom prst="ellipse">
            <a:avLst/>
          </a:prstGeom>
          <a:solidFill>
            <a:srgbClr val="FFFFFF">
              <a:alpha val="154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69949" y="2209790"/>
            <a:ext cx="32004" cy="32004"/>
          </a:xfrm>
          <a:prstGeom prst="ellipse">
            <a:avLst/>
          </a:prstGeom>
          <a:solidFill>
            <a:srgbClr val="FFFFFF">
              <a:alpha val="17669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57484" y="1789573"/>
            <a:ext cx="32004" cy="32004"/>
          </a:xfrm>
          <a:prstGeom prst="ellipse">
            <a:avLst/>
          </a:prstGeom>
          <a:solidFill>
            <a:srgbClr val="FFFFFF">
              <a:alpha val="35154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871391" y="3179935"/>
            <a:ext cx="32004" cy="32004"/>
          </a:xfrm>
          <a:prstGeom prst="ellipse">
            <a:avLst/>
          </a:prstGeom>
          <a:solidFill>
            <a:srgbClr val="FFFFFF">
              <a:alpha val="11453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272754" y="3009970"/>
            <a:ext cx="32004" cy="32004"/>
          </a:xfrm>
          <a:prstGeom prst="ellipse">
            <a:avLst/>
          </a:prstGeom>
          <a:solidFill>
            <a:srgbClr val="FFFFFF">
              <a:alpha val="11679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62224" y="1513144"/>
            <a:ext cx="32004" cy="32004"/>
          </a:xfrm>
          <a:prstGeom prst="ellipse">
            <a:avLst/>
          </a:prstGeom>
          <a:solidFill>
            <a:srgbClr val="FFFFFF">
              <a:alpha val="23674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23268" y="2272305"/>
            <a:ext cx="32004" cy="32004"/>
          </a:xfrm>
          <a:prstGeom prst="ellipse">
            <a:avLst/>
          </a:prstGeom>
          <a:solidFill>
            <a:srgbClr val="FFFFFF">
              <a:alpha val="22114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95688" y="1239474"/>
            <a:ext cx="32004" cy="32004"/>
          </a:xfrm>
          <a:prstGeom prst="ellipse">
            <a:avLst/>
          </a:prstGeom>
          <a:solidFill>
            <a:srgbClr val="FFFFFF">
              <a:alpha val="55302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853107" y="3449977"/>
            <a:ext cx="32004" cy="32004"/>
          </a:xfrm>
          <a:prstGeom prst="ellipse">
            <a:avLst/>
          </a:prstGeom>
          <a:solidFill>
            <a:srgbClr val="FFFFFF">
              <a:alpha val="41913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6040" y="3435264"/>
            <a:ext cx="32004" cy="32004"/>
          </a:xfrm>
          <a:prstGeom prst="ellipse">
            <a:avLst/>
          </a:prstGeom>
          <a:solidFill>
            <a:srgbClr val="FFFFFF">
              <a:alpha val="5120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12269" y="1915628"/>
            <a:ext cx="32004" cy="32004"/>
          </a:xfrm>
          <a:prstGeom prst="ellipse">
            <a:avLst/>
          </a:prstGeom>
          <a:solidFill>
            <a:srgbClr val="FFFFFF">
              <a:alpha val="20748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601064" y="2755073"/>
            <a:ext cx="32004" cy="32004"/>
          </a:xfrm>
          <a:prstGeom prst="ellipse">
            <a:avLst/>
          </a:prstGeom>
          <a:solidFill>
            <a:srgbClr val="FFFFFF">
              <a:alpha val="57724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039014" y="4226745"/>
            <a:ext cx="32004" cy="32004"/>
          </a:xfrm>
          <a:prstGeom prst="ellipse">
            <a:avLst/>
          </a:prstGeom>
          <a:solidFill>
            <a:srgbClr val="FFFFFF">
              <a:alpha val="49064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5453181" y="1940179"/>
            <a:ext cx="32004" cy="32004"/>
          </a:xfrm>
          <a:prstGeom prst="ellipse">
            <a:avLst/>
          </a:prstGeom>
          <a:solidFill>
            <a:srgbClr val="FFFFFF">
              <a:alpha val="18214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699813" y="2453760"/>
            <a:ext cx="32004" cy="32004"/>
          </a:xfrm>
          <a:prstGeom prst="ellipse">
            <a:avLst/>
          </a:prstGeom>
          <a:solidFill>
            <a:srgbClr val="FFFFFF">
              <a:alpha val="55071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051993" y="3695989"/>
            <a:ext cx="32004" cy="32004"/>
          </a:xfrm>
          <a:prstGeom prst="ellipse">
            <a:avLst/>
          </a:prstGeom>
          <a:solidFill>
            <a:srgbClr val="FFFFFF">
              <a:alpha val="33888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451786" y="2006586"/>
            <a:ext cx="32004" cy="32004"/>
          </a:xfrm>
          <a:prstGeom prst="ellipse">
            <a:avLst/>
          </a:prstGeom>
          <a:solidFill>
            <a:srgbClr val="FFFFFF">
              <a:alpha val="22341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674192" y="1599100"/>
            <a:ext cx="32004" cy="32004"/>
          </a:xfrm>
          <a:prstGeom prst="ellipse">
            <a:avLst/>
          </a:prstGeom>
          <a:solidFill>
            <a:srgbClr val="FFFFFF">
              <a:alpha val="64683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655752" y="3440676"/>
            <a:ext cx="32004" cy="32004"/>
          </a:xfrm>
          <a:prstGeom prst="ellipse">
            <a:avLst/>
          </a:prstGeom>
          <a:solidFill>
            <a:srgbClr val="FFFFFF">
              <a:alpha val="46435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500773" y="1748250"/>
            <a:ext cx="32004" cy="32004"/>
          </a:xfrm>
          <a:prstGeom prst="ellipse">
            <a:avLst/>
          </a:prstGeom>
          <a:solidFill>
            <a:srgbClr val="FFFFFF">
              <a:alpha val="40449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601784" y="2402793"/>
            <a:ext cx="32004" cy="32004"/>
          </a:xfrm>
          <a:prstGeom prst="ellipse">
            <a:avLst/>
          </a:prstGeom>
          <a:solidFill>
            <a:srgbClr val="FFFFFF">
              <a:alpha val="18006"/>
            </a:srgbClr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A  ·  ENGINEERING  ·  2 / 2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rig: let sunlight do the digging</a:t>
            </a:r>
            <a:endParaRPr lang="en-US" sz="260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A: extraction tool, processing, power, and what happens when it breaks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57200" y="4846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basis: optical mining (NASA NIAC / TransAstra) and a steam-hopper prototype with 87% water recovery in lab. Scale-up to 316 t per trip is our assumption.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65760" y="1234440"/>
            <a:ext cx="4434840" cy="3474720"/>
          </a:xfrm>
          <a:prstGeom prst="rect">
            <a:avLst/>
          </a:prstGeom>
          <a:solidFill>
            <a:srgbClr val="070B18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2960" y="3611880"/>
            <a:ext cx="3566160" cy="1051560"/>
          </a:xfrm>
          <a:prstGeom prst="ellipse">
            <a:avLst/>
          </a:prstGeom>
          <a:solidFill>
            <a:srgbClr val="3C4160"/>
          </a:solidFill>
          <a:ln w="15875">
            <a:solidFill>
              <a:srgbClr val="6B719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09728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Bennu surface: hydrated clay boulders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371600" y="2331720"/>
            <a:ext cx="2194560" cy="1417320"/>
          </a:xfrm>
          <a:prstGeom prst="ellipse">
            <a:avLst/>
          </a:prstGeom>
          <a:solidFill>
            <a:srgbClr val="4FC3F7">
              <a:alpha val="22000"/>
            </a:srgbClr>
          </a:solidFill>
          <a:ln w="25400">
            <a:solidFill>
              <a:srgbClr val="4FC3F7"/>
            </a:solidFill>
            <a:prstDash val="dash"/>
          </a:ln>
        </p:spPr>
      </p:sp>
      <p:sp>
        <p:nvSpPr>
          <p:cNvPr id="81" name="Text 79"/>
          <p:cNvSpPr txBox="1"/>
          <p:nvPr/>
        </p:nvSpPr>
        <p:spPr>
          <a:xfrm>
            <a:off x="150876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rubble, sealed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94360" y="1463040"/>
            <a:ext cx="914400" cy="868680"/>
          </a:xfrm>
          <a:prstGeom prst="line">
            <a:avLst/>
          </a:prstGeom>
          <a:noFill/>
          <a:ln w="63500">
            <a:solidFill>
              <a:srgbClr val="FFE8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3429000" y="1463040"/>
            <a:ext cx="914400" cy="868680"/>
          </a:xfrm>
          <a:prstGeom prst="line">
            <a:avLst/>
          </a:prstGeom>
          <a:noFill/>
          <a:ln w="63500">
            <a:solidFill>
              <a:srgbClr val="FFE81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02920" y="1261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thin-film solar concentrators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371600" y="2240280"/>
            <a:ext cx="594360" cy="457200"/>
          </a:xfrm>
          <a:prstGeom prst="line">
            <a:avLst/>
          </a:prstGeom>
          <a:noFill/>
          <a:ln w="22225">
            <a:solidFill>
              <a:srgbClr val="FFE81F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H="1">
            <a:off x="2971800" y="2240280"/>
            <a:ext cx="548640" cy="457200"/>
          </a:xfrm>
          <a:prstGeom prst="line">
            <a:avLst/>
          </a:prstGeom>
          <a:noFill/>
          <a:ln w="22225">
            <a:solidFill>
              <a:srgbClr val="FFE81F"/>
            </a:solidFill>
            <a:prstDash val="solid"/>
            <a:tailEnd type="triangle"/>
          </a:ln>
        </p:spPr>
      </p:sp>
      <p:sp>
        <p:nvSpPr>
          <p:cNvPr id="87" name="Text 85"/>
          <p:cNvSpPr txBox="1"/>
          <p:nvPr/>
        </p:nvSpPr>
        <p:spPr>
          <a:xfrm>
            <a:off x="228600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560320" y="1481328"/>
            <a:ext cx="0" cy="713232"/>
          </a:xfrm>
          <a:prstGeom prst="line">
            <a:avLst/>
          </a:prstGeom>
          <a:noFill/>
          <a:ln w="22225">
            <a:solidFill>
              <a:srgbClr val="FFE81F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3611880" y="2697480"/>
            <a:ext cx="1051560" cy="457200"/>
          </a:xfrm>
          <a:prstGeom prst="rect">
            <a:avLst/>
          </a:prstGeom>
          <a:solidFill>
            <a:srgbClr val="1C5FA8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611880" y="2697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plate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566160" y="2926080"/>
            <a:ext cx="45720" cy="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11880" y="3291840"/>
            <a:ext cx="1051560" cy="457200"/>
          </a:xfrm>
          <a:prstGeom prst="rect">
            <a:avLst/>
          </a:prstGeom>
          <a:solidFill>
            <a:srgbClr val="0F6E66"/>
          </a:solidFill>
          <a:ln w="12700">
            <a:solidFill>
              <a:srgbClr val="5BD6A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61188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t)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114800" y="3154680"/>
            <a:ext cx="0" cy="137160"/>
          </a:xfrm>
          <a:prstGeom prst="line">
            <a:avLst/>
          </a:prstGeom>
          <a:noFill/>
          <a:ln w="22225">
            <a:solidFill>
              <a:srgbClr val="4FC3F7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502920" y="3749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4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harpoons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737360" y="3611880"/>
            <a:ext cx="0" cy="0"/>
          </a:xfrm>
          <a:prstGeom prst="line">
            <a:avLst/>
          </a:prstGeom>
          <a:noFill/>
          <a:ln w="12700">
            <a:solidFill>
              <a:srgbClr val="C4CA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83480" y="1234440"/>
            <a:ext cx="3749040" cy="48463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047488" y="126187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+ land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5989320" y="1261872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 hovers with optical nav + LIDAR, fires harpoons to hold on. No landing, no wheels.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983480" y="1764792"/>
            <a:ext cx="3749040" cy="48463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047488" y="1792224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sp>
        <p:nvSpPr>
          <p:cNvPr id="102" name="Text 100"/>
          <p:cNvSpPr txBox="1"/>
          <p:nvPr/>
        </p:nvSpPr>
        <p:spPr>
          <a:xfrm>
            <a:off x="5989320" y="1792224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swallows a patch; mirrors heat it to ~500 C; clay releases water vapour.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983480" y="2295144"/>
            <a:ext cx="3749040" cy="48463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047488" y="232257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105" name="Text 103"/>
          <p:cNvSpPr txBox="1"/>
          <p:nvPr/>
        </p:nvSpPr>
        <p:spPr>
          <a:xfrm>
            <a:off x="5989320" y="2322576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freezes on a cold plate, melts into the tank. Dry rock is dumped (or kept as shielding bulk).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983480" y="2825496"/>
            <a:ext cx="3749040" cy="48463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047488" y="2852928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+ energy</a:t>
            </a:r>
            <a:endParaRPr lang="en-US" sz="1050" dirty="0"/>
          </a:p>
        </p:txBody>
      </p:sp>
      <p:sp>
        <p:nvSpPr>
          <p:cNvPr id="108" name="Text 106"/>
          <p:cNvSpPr txBox="1"/>
          <p:nvPr/>
        </p:nvSpPr>
        <p:spPr>
          <a:xfrm>
            <a:off x="5989320" y="2852928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stays in space as propellant and life-support water. Power is solar only, ~70 kW thermal at the oven.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4983480" y="3355848"/>
            <a:ext cx="3749040" cy="48463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047488" y="338328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anyway</a:t>
            </a:r>
            <a:endParaRPr lang="en-US" sz="1050" dirty="0"/>
          </a:p>
        </p:txBody>
      </p:sp>
      <p:sp>
        <p:nvSpPr>
          <p:cNvPr id="111" name="Text 109"/>
          <p:cNvSpPr txBox="1"/>
          <p:nvPr/>
        </p:nvSpPr>
        <p:spPr>
          <a:xfrm>
            <a:off x="5989320" y="3383280"/>
            <a:ext cx="2697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tugs per base, spare bags, hover-and-wait safe mode. Ground sets goals; onboard autonomy runs the loops since signals take minutes.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983480" y="3931920"/>
            <a:ext cx="3749040" cy="777240"/>
          </a:xfrm>
          <a:prstGeom prst="rect">
            <a:avLst/>
          </a:prstGeom>
          <a:solidFill>
            <a:srgbClr val="1B1608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074920" y="39593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tell me the odds. </a:t>
            </a: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capturing and baking loose rubble in microgravity at scale. Assumed breakthrough: optical mining proven in orbit, plus ~500 s water thrusters.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5340" y="2640441"/>
            <a:ext cx="32004" cy="32004"/>
          </a:xfrm>
          <a:prstGeom prst="ellipse">
            <a:avLst/>
          </a:prstGeom>
          <a:solidFill>
            <a:srgbClr val="FFFFFF">
              <a:alpha val="6252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52301" y="2855498"/>
            <a:ext cx="32004" cy="32004"/>
          </a:xfrm>
          <a:prstGeom prst="ellipse">
            <a:avLst/>
          </a:prstGeom>
          <a:solidFill>
            <a:srgbClr val="FFFFFF">
              <a:alpha val="2415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71290" y="1939534"/>
            <a:ext cx="32004" cy="32004"/>
          </a:xfrm>
          <a:prstGeom prst="ellipse">
            <a:avLst/>
          </a:prstGeom>
          <a:solidFill>
            <a:srgbClr val="FFFFFF">
              <a:alpha val="2668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34799" y="2860878"/>
            <a:ext cx="32004" cy="32004"/>
          </a:xfrm>
          <a:prstGeom prst="ellipse">
            <a:avLst/>
          </a:prstGeom>
          <a:solidFill>
            <a:srgbClr val="FFFFFF">
              <a:alpha val="2527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05024" y="2476042"/>
            <a:ext cx="32004" cy="32004"/>
          </a:xfrm>
          <a:prstGeom prst="ellipse">
            <a:avLst/>
          </a:prstGeom>
          <a:solidFill>
            <a:srgbClr val="FFFFFF">
              <a:alpha val="2954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37634" y="2428677"/>
            <a:ext cx="32004" cy="32004"/>
          </a:xfrm>
          <a:prstGeom prst="ellipse">
            <a:avLst/>
          </a:prstGeom>
          <a:solidFill>
            <a:srgbClr val="FFFFFF">
              <a:alpha val="4545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13094" y="4098550"/>
            <a:ext cx="32004" cy="32004"/>
          </a:xfrm>
          <a:prstGeom prst="ellipse">
            <a:avLst/>
          </a:prstGeom>
          <a:solidFill>
            <a:srgbClr val="FFFFFF">
              <a:alpha val="1681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0316" y="3323898"/>
            <a:ext cx="32004" cy="32004"/>
          </a:xfrm>
          <a:prstGeom prst="ellipse">
            <a:avLst/>
          </a:prstGeom>
          <a:solidFill>
            <a:srgbClr val="FFFFFF">
              <a:alpha val="6053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2316" y="4201320"/>
            <a:ext cx="32004" cy="32004"/>
          </a:xfrm>
          <a:prstGeom prst="ellipse">
            <a:avLst/>
          </a:prstGeom>
          <a:solidFill>
            <a:srgbClr val="FFFFFF">
              <a:alpha val="4735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35850" y="2758197"/>
            <a:ext cx="32004" cy="32004"/>
          </a:xfrm>
          <a:prstGeom prst="ellipse">
            <a:avLst/>
          </a:prstGeom>
          <a:solidFill>
            <a:srgbClr val="FFFFFF">
              <a:alpha val="33527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56016" y="2680399"/>
            <a:ext cx="32004" cy="32004"/>
          </a:xfrm>
          <a:prstGeom prst="ellipse">
            <a:avLst/>
          </a:prstGeom>
          <a:solidFill>
            <a:srgbClr val="FFFFFF">
              <a:alpha val="33071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99618" y="3850573"/>
            <a:ext cx="32004" cy="32004"/>
          </a:xfrm>
          <a:prstGeom prst="ellipse">
            <a:avLst/>
          </a:prstGeom>
          <a:solidFill>
            <a:srgbClr val="FFFFFF">
              <a:alpha val="55834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9529" y="1485099"/>
            <a:ext cx="32004" cy="32004"/>
          </a:xfrm>
          <a:prstGeom prst="ellipse">
            <a:avLst/>
          </a:prstGeom>
          <a:solidFill>
            <a:srgbClr val="FFFFFF">
              <a:alpha val="63411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15721" y="2891888"/>
            <a:ext cx="32004" cy="32004"/>
          </a:xfrm>
          <a:prstGeom prst="ellipse">
            <a:avLst/>
          </a:prstGeom>
          <a:solidFill>
            <a:srgbClr val="FFFFFF">
              <a:alpha val="4561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61617" y="3657160"/>
            <a:ext cx="32004" cy="32004"/>
          </a:xfrm>
          <a:prstGeom prst="ellipse">
            <a:avLst/>
          </a:prstGeom>
          <a:solidFill>
            <a:srgbClr val="FFFFFF">
              <a:alpha val="20923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75872" y="2152109"/>
            <a:ext cx="32004" cy="32004"/>
          </a:xfrm>
          <a:prstGeom prst="ellipse">
            <a:avLst/>
          </a:prstGeom>
          <a:solidFill>
            <a:srgbClr val="FFFFFF">
              <a:alpha val="59581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30139" y="3974785"/>
            <a:ext cx="32004" cy="32004"/>
          </a:xfrm>
          <a:prstGeom prst="ellipse">
            <a:avLst/>
          </a:prstGeom>
          <a:solidFill>
            <a:srgbClr val="FFFFFF">
              <a:alpha val="5027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22039" y="3639157"/>
            <a:ext cx="32004" cy="32004"/>
          </a:xfrm>
          <a:prstGeom prst="ellipse">
            <a:avLst/>
          </a:prstGeom>
          <a:solidFill>
            <a:srgbClr val="FFFFFF">
              <a:alpha val="29891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37162" y="1533967"/>
            <a:ext cx="32004" cy="32004"/>
          </a:xfrm>
          <a:prstGeom prst="ellipse">
            <a:avLst/>
          </a:prstGeom>
          <a:solidFill>
            <a:srgbClr val="FFFFFF">
              <a:alpha val="4640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57662" y="1303671"/>
            <a:ext cx="32004" cy="32004"/>
          </a:xfrm>
          <a:prstGeom prst="ellipse">
            <a:avLst/>
          </a:prstGeom>
          <a:solidFill>
            <a:srgbClr val="FFFFFF">
              <a:alpha val="2552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23183" y="2063220"/>
            <a:ext cx="32004" cy="32004"/>
          </a:xfrm>
          <a:prstGeom prst="ellipse">
            <a:avLst/>
          </a:prstGeom>
          <a:solidFill>
            <a:srgbClr val="FFFFFF">
              <a:alpha val="6272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31213" y="3944110"/>
            <a:ext cx="32004" cy="32004"/>
          </a:xfrm>
          <a:prstGeom prst="ellipse">
            <a:avLst/>
          </a:prstGeom>
          <a:solidFill>
            <a:srgbClr val="FFFFFF">
              <a:alpha val="23454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47943" y="3227566"/>
            <a:ext cx="32004" cy="32004"/>
          </a:xfrm>
          <a:prstGeom prst="ellipse">
            <a:avLst/>
          </a:prstGeom>
          <a:solidFill>
            <a:srgbClr val="FFFFFF">
              <a:alpha val="5679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90034" y="3624802"/>
            <a:ext cx="32004" cy="32004"/>
          </a:xfrm>
          <a:prstGeom prst="ellipse">
            <a:avLst/>
          </a:prstGeom>
          <a:solidFill>
            <a:srgbClr val="FFFFFF">
              <a:alpha val="28399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545004" y="3327153"/>
            <a:ext cx="32004" cy="32004"/>
          </a:xfrm>
          <a:prstGeom prst="ellipse">
            <a:avLst/>
          </a:prstGeom>
          <a:solidFill>
            <a:srgbClr val="FFFFFF">
              <a:alpha val="1227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68585" y="2366294"/>
            <a:ext cx="32004" cy="32004"/>
          </a:xfrm>
          <a:prstGeom prst="ellipse">
            <a:avLst/>
          </a:prstGeom>
          <a:solidFill>
            <a:srgbClr val="FFFFFF">
              <a:alpha val="1666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87353" y="1737295"/>
            <a:ext cx="32004" cy="32004"/>
          </a:xfrm>
          <a:prstGeom prst="ellipse">
            <a:avLst/>
          </a:prstGeom>
          <a:solidFill>
            <a:srgbClr val="FFFFFF">
              <a:alpha val="19023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738374" y="2403151"/>
            <a:ext cx="32004" cy="32004"/>
          </a:xfrm>
          <a:prstGeom prst="ellipse">
            <a:avLst/>
          </a:prstGeom>
          <a:solidFill>
            <a:srgbClr val="FFFFFF">
              <a:alpha val="62295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09580" y="2290709"/>
            <a:ext cx="32004" cy="32004"/>
          </a:xfrm>
          <a:prstGeom prst="ellipse">
            <a:avLst/>
          </a:prstGeom>
          <a:solidFill>
            <a:srgbClr val="FFFFFF">
              <a:alpha val="49551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26568" y="3934709"/>
            <a:ext cx="32004" cy="32004"/>
          </a:xfrm>
          <a:prstGeom prst="ellipse">
            <a:avLst/>
          </a:prstGeom>
          <a:solidFill>
            <a:srgbClr val="FFFFFF">
              <a:alpha val="4637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616378" y="1903490"/>
            <a:ext cx="32004" cy="32004"/>
          </a:xfrm>
          <a:prstGeom prst="ellipse">
            <a:avLst/>
          </a:prstGeom>
          <a:solidFill>
            <a:srgbClr val="FFFFFF">
              <a:alpha val="5176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33818" y="3615651"/>
            <a:ext cx="32004" cy="32004"/>
          </a:xfrm>
          <a:prstGeom prst="ellipse">
            <a:avLst/>
          </a:prstGeom>
          <a:solidFill>
            <a:srgbClr val="FFFFFF">
              <a:alpha val="60323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578641" y="4567087"/>
            <a:ext cx="32004" cy="32004"/>
          </a:xfrm>
          <a:prstGeom prst="ellipse">
            <a:avLst/>
          </a:prstGeom>
          <a:solidFill>
            <a:srgbClr val="FFFFFF">
              <a:alpha val="28107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56166" y="4079936"/>
            <a:ext cx="32004" cy="32004"/>
          </a:xfrm>
          <a:prstGeom prst="ellipse">
            <a:avLst/>
          </a:prstGeom>
          <a:solidFill>
            <a:srgbClr val="FFFFFF">
              <a:alpha val="28169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982426" y="2940875"/>
            <a:ext cx="32004" cy="32004"/>
          </a:xfrm>
          <a:prstGeom prst="ellipse">
            <a:avLst/>
          </a:prstGeom>
          <a:solidFill>
            <a:srgbClr val="FFFFFF">
              <a:alpha val="61661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541228" y="3319823"/>
            <a:ext cx="32004" cy="32004"/>
          </a:xfrm>
          <a:prstGeom prst="ellipse">
            <a:avLst/>
          </a:prstGeom>
          <a:solidFill>
            <a:srgbClr val="FFFFFF">
              <a:alpha val="39537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37221" y="4333982"/>
            <a:ext cx="32004" cy="32004"/>
          </a:xfrm>
          <a:prstGeom prst="ellipse">
            <a:avLst/>
          </a:prstGeom>
          <a:solidFill>
            <a:srgbClr val="FFFFFF">
              <a:alpha val="2856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79057" y="1226001"/>
            <a:ext cx="32004" cy="32004"/>
          </a:xfrm>
          <a:prstGeom prst="ellipse">
            <a:avLst/>
          </a:prstGeom>
          <a:solidFill>
            <a:srgbClr val="FFFFFF">
              <a:alpha val="56622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890316" y="2833234"/>
            <a:ext cx="32004" cy="32004"/>
          </a:xfrm>
          <a:prstGeom prst="ellipse">
            <a:avLst/>
          </a:prstGeom>
          <a:solidFill>
            <a:srgbClr val="FFFFFF">
              <a:alpha val="4634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49769" y="2898442"/>
            <a:ext cx="32004" cy="32004"/>
          </a:xfrm>
          <a:prstGeom prst="ellipse">
            <a:avLst/>
          </a:prstGeom>
          <a:solidFill>
            <a:srgbClr val="FFFFFF">
              <a:alpha val="51027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91966" y="3109115"/>
            <a:ext cx="32004" cy="32004"/>
          </a:xfrm>
          <a:prstGeom prst="ellipse">
            <a:avLst/>
          </a:prstGeom>
          <a:solidFill>
            <a:srgbClr val="FFFFFF">
              <a:alpha val="48465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0815" y="4608926"/>
            <a:ext cx="32004" cy="32004"/>
          </a:xfrm>
          <a:prstGeom prst="ellipse">
            <a:avLst/>
          </a:prstGeom>
          <a:solidFill>
            <a:srgbClr val="FFFFFF">
              <a:alpha val="37875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85818" y="3706807"/>
            <a:ext cx="32004" cy="32004"/>
          </a:xfrm>
          <a:prstGeom prst="ellipse">
            <a:avLst/>
          </a:prstGeom>
          <a:solidFill>
            <a:srgbClr val="FFFFFF">
              <a:alpha val="25532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20086" y="2438841"/>
            <a:ext cx="32004" cy="32004"/>
          </a:xfrm>
          <a:prstGeom prst="ellipse">
            <a:avLst/>
          </a:prstGeom>
          <a:solidFill>
            <a:srgbClr val="FFFFFF">
              <a:alpha val="47257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73101" y="2495643"/>
            <a:ext cx="32004" cy="32004"/>
          </a:xfrm>
          <a:prstGeom prst="ellipse">
            <a:avLst/>
          </a:prstGeom>
          <a:solidFill>
            <a:srgbClr val="FFFFFF">
              <a:alpha val="56841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365236" y="1515495"/>
            <a:ext cx="32004" cy="32004"/>
          </a:xfrm>
          <a:prstGeom prst="ellipse">
            <a:avLst/>
          </a:prstGeom>
          <a:solidFill>
            <a:srgbClr val="FFFFFF">
              <a:alpha val="31552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02876" y="4443511"/>
            <a:ext cx="32004" cy="32004"/>
          </a:xfrm>
          <a:prstGeom prst="ellipse">
            <a:avLst/>
          </a:prstGeom>
          <a:solidFill>
            <a:srgbClr val="FFFFFF">
              <a:alpha val="26652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435319" y="3130748"/>
            <a:ext cx="32004" cy="32004"/>
          </a:xfrm>
          <a:prstGeom prst="ellipse">
            <a:avLst/>
          </a:prstGeom>
          <a:solidFill>
            <a:srgbClr val="FFFFFF">
              <a:alpha val="3228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11182" y="1672064"/>
            <a:ext cx="32004" cy="32004"/>
          </a:xfrm>
          <a:prstGeom prst="ellipse">
            <a:avLst/>
          </a:prstGeom>
          <a:solidFill>
            <a:srgbClr val="FFFFFF">
              <a:alpha val="18638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05038" y="3830490"/>
            <a:ext cx="32004" cy="32004"/>
          </a:xfrm>
          <a:prstGeom prst="ellipse">
            <a:avLst/>
          </a:prstGeom>
          <a:solidFill>
            <a:srgbClr val="FFFFFF">
              <a:alpha val="62237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860173" y="3024858"/>
            <a:ext cx="32004" cy="32004"/>
          </a:xfrm>
          <a:prstGeom prst="ellipse">
            <a:avLst/>
          </a:prstGeom>
          <a:solidFill>
            <a:srgbClr val="FFFFFF">
              <a:alpha val="25169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63418" y="1871684"/>
            <a:ext cx="32004" cy="32004"/>
          </a:xfrm>
          <a:prstGeom prst="ellipse">
            <a:avLst/>
          </a:prstGeom>
          <a:solidFill>
            <a:srgbClr val="FFFFFF">
              <a:alpha val="12783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144252" y="2163254"/>
            <a:ext cx="32004" cy="32004"/>
          </a:xfrm>
          <a:prstGeom prst="ellipse">
            <a:avLst/>
          </a:prstGeom>
          <a:solidFill>
            <a:srgbClr val="FFFFFF">
              <a:alpha val="46187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3969" y="3657254"/>
            <a:ext cx="32004" cy="32004"/>
          </a:xfrm>
          <a:prstGeom prst="ellipse">
            <a:avLst/>
          </a:prstGeom>
          <a:solidFill>
            <a:srgbClr val="FFFFFF">
              <a:alpha val="58579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56736" y="1395928"/>
            <a:ext cx="32004" cy="32004"/>
          </a:xfrm>
          <a:prstGeom prst="ellipse">
            <a:avLst/>
          </a:prstGeom>
          <a:solidFill>
            <a:srgbClr val="FFFFFF">
              <a:alpha val="6337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58617" y="1430833"/>
            <a:ext cx="32004" cy="32004"/>
          </a:xfrm>
          <a:prstGeom prst="ellipse">
            <a:avLst/>
          </a:prstGeom>
          <a:solidFill>
            <a:srgbClr val="FFFFFF">
              <a:alpha val="27744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98364" y="2986701"/>
            <a:ext cx="32004" cy="32004"/>
          </a:xfrm>
          <a:prstGeom prst="ellipse">
            <a:avLst/>
          </a:prstGeom>
          <a:solidFill>
            <a:srgbClr val="FFFFFF">
              <a:alpha val="53627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036406" y="2001704"/>
            <a:ext cx="32004" cy="32004"/>
          </a:xfrm>
          <a:prstGeom prst="ellipse">
            <a:avLst/>
          </a:prstGeom>
          <a:solidFill>
            <a:srgbClr val="FFFFFF">
              <a:alpha val="39607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300880" y="3141959"/>
            <a:ext cx="32004" cy="32004"/>
          </a:xfrm>
          <a:prstGeom prst="ellipse">
            <a:avLst/>
          </a:prstGeom>
          <a:solidFill>
            <a:srgbClr val="FFFFFF">
              <a:alpha val="61619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72454" y="3968093"/>
            <a:ext cx="32004" cy="32004"/>
          </a:xfrm>
          <a:prstGeom prst="ellipse">
            <a:avLst/>
          </a:prstGeom>
          <a:solidFill>
            <a:srgbClr val="FFFFFF">
              <a:alpha val="15199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12459" y="3593876"/>
            <a:ext cx="32004" cy="32004"/>
          </a:xfrm>
          <a:prstGeom prst="ellipse">
            <a:avLst/>
          </a:prstGeom>
          <a:solidFill>
            <a:srgbClr val="FFFFFF">
              <a:alpha val="47707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586000" y="2872490"/>
            <a:ext cx="32004" cy="32004"/>
          </a:xfrm>
          <a:prstGeom prst="ellipse">
            <a:avLst/>
          </a:prstGeom>
          <a:solidFill>
            <a:srgbClr val="FFFFFF">
              <a:alpha val="3603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5979155" y="4580131"/>
            <a:ext cx="32004" cy="32004"/>
          </a:xfrm>
          <a:prstGeom prst="ellipse">
            <a:avLst/>
          </a:prstGeom>
          <a:solidFill>
            <a:srgbClr val="FFFFFF">
              <a:alpha val="50563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68194" y="2768443"/>
            <a:ext cx="32004" cy="32004"/>
          </a:xfrm>
          <a:prstGeom prst="ellipse">
            <a:avLst/>
          </a:prstGeom>
          <a:solidFill>
            <a:srgbClr val="FFFFFF">
              <a:alpha val="20321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054414" y="1146703"/>
            <a:ext cx="32004" cy="32004"/>
          </a:xfrm>
          <a:prstGeom prst="ellipse">
            <a:avLst/>
          </a:prstGeom>
          <a:solidFill>
            <a:srgbClr val="FFFFFF">
              <a:alpha val="56928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5866759" y="1182035"/>
            <a:ext cx="32004" cy="32004"/>
          </a:xfrm>
          <a:prstGeom prst="ellipse">
            <a:avLst/>
          </a:prstGeom>
          <a:solidFill>
            <a:srgbClr val="FFFFFF">
              <a:alpha val="52709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990583" y="4691150"/>
            <a:ext cx="32004" cy="32004"/>
          </a:xfrm>
          <a:prstGeom prst="ellipse">
            <a:avLst/>
          </a:prstGeom>
          <a:solidFill>
            <a:srgbClr val="FFFFFF">
              <a:alpha val="49863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47735" y="4557128"/>
            <a:ext cx="32004" cy="32004"/>
          </a:xfrm>
          <a:prstGeom prst="ellipse">
            <a:avLst/>
          </a:prstGeom>
          <a:solidFill>
            <a:srgbClr val="FFFFFF">
              <a:alpha val="43607"/>
            </a:srgbClr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B  ·  COST  ·  1 / 2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goes, and how we shrink it</a:t>
            </a:r>
            <a:endParaRPr lang="en-US" sz="2600" dirty="0"/>
          </a:p>
        </p:txBody>
      </p:sp>
      <p:sp>
        <p:nvSpPr>
          <p:cNvPr id="72" name="Text 70"/>
          <p:cNvSpPr txBox="1"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B: three biggest cost drivers, our fixes, and what we have to assume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4846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 $1711M including 20% contingency; opex $395M over 20 years. Launch price: contract seen at $90M, we assume $60M as flights get routine.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75" name="Chart 0"/>
          <p:cNvGraphicFramePr/>
          <p:nvPr/>
        </p:nvGraphicFramePr>
        <p:xfrm>
          <a:off x="320040" y="1188720"/>
          <a:ext cx="37490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6" name="Shape 73"/>
          <p:cNvSpPr/>
          <p:nvPr/>
        </p:nvSpPr>
        <p:spPr>
          <a:xfrm>
            <a:off x="365760" y="3611880"/>
            <a:ext cx="3657600" cy="109728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57200" y="3639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we are making</a:t>
            </a:r>
            <a:endParaRPr lang="en-US" sz="1600" dirty="0"/>
          </a:p>
        </p:txBody>
      </p:sp>
      <p:sp>
        <p:nvSpPr>
          <p:cNvPr id="78" name="Text 75"/>
          <p:cNvSpPr txBox="1"/>
          <p:nvPr/>
        </p:nvSpPr>
        <p:spPr>
          <a:xfrm>
            <a:off x="457200" y="3886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Starship: 150 t to LEO, $60M/flight, one flight per tug.  Tug: 30 t dry, 200 t cargo, 500 s thruster, 2.5 yr round trip.  Tug cost falls 15% per doubling.  10% discount rate.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297680" y="1234440"/>
            <a:ext cx="4434840" cy="105156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407408" y="1325880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40740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2" name="Text 79"/>
          <p:cNvSpPr txBox="1"/>
          <p:nvPr/>
        </p:nvSpPr>
        <p:spPr>
          <a:xfrm>
            <a:off x="4892040" y="128930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to orbit  </a:t>
            </a:r>
            <a:r>
              <a:rPr lang="en-US" sz="10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CAPEX</a:t>
            </a:r>
            <a:endParaRPr lang="en-US" sz="11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once per tug, never launch propellant again. After the first fill the ships drink Bennu water.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we assume: Reusable Starship at ~$60M/flight</a:t>
            </a:r>
            <a:endParaRPr lang="en-US" sz="1100" dirty="0"/>
          </a:p>
        </p:txBody>
      </p:sp>
      <p:sp>
        <p:nvSpPr>
          <p:cNvPr id="83" name="Shape 80"/>
          <p:cNvSpPr/>
          <p:nvPr/>
        </p:nvSpPr>
        <p:spPr>
          <a:xfrm>
            <a:off x="4297680" y="2377440"/>
            <a:ext cx="4434840" cy="105156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407408" y="2468880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4407408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6" name="Text 83"/>
          <p:cNvSpPr txBox="1"/>
          <p:nvPr/>
        </p:nvSpPr>
        <p:spPr>
          <a:xfrm>
            <a:off x="4892040" y="243230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 fleet  </a:t>
            </a:r>
            <a:r>
              <a:rPr lang="en-US" sz="10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CAPEX</a:t>
            </a:r>
            <a:endParaRPr lang="en-US" sz="11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built six times, so unit cost drops. Each tug flies about 8 trips.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we assume: 15% learning curve, 20 yr hardware life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4297680" y="3520440"/>
            <a:ext cx="4434840" cy="105156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407408" y="3611880"/>
            <a:ext cx="384048" cy="384048"/>
          </a:xfrm>
          <a:prstGeom prst="ellipse">
            <a:avLst/>
          </a:prstGeom>
          <a:solidFill>
            <a:srgbClr val="FFE81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40740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0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90" name="Text 87"/>
          <p:cNvSpPr txBox="1"/>
          <p:nvPr/>
        </p:nvSpPr>
        <p:spPr>
          <a:xfrm>
            <a:off x="4892040" y="357530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bases  </a:t>
            </a:r>
            <a:r>
              <a:rPr lang="en-US" sz="10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of CAPEX</a:t>
            </a:r>
            <a:endParaRPr lang="en-US" sz="11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drills, diggers and crushers with a bag and mirrors.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we assume: Optical mining works at flight scale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7214" y="2792705"/>
            <a:ext cx="32004" cy="32004"/>
          </a:xfrm>
          <a:prstGeom prst="ellipse">
            <a:avLst/>
          </a:prstGeom>
          <a:solidFill>
            <a:srgbClr val="FFFFFF">
              <a:alpha val="1586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5973" y="1163866"/>
            <a:ext cx="32004" cy="32004"/>
          </a:xfrm>
          <a:prstGeom prst="ellipse">
            <a:avLst/>
          </a:prstGeom>
          <a:solidFill>
            <a:srgbClr val="FFFFFF">
              <a:alpha val="3717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567940" y="1229786"/>
            <a:ext cx="32004" cy="32004"/>
          </a:xfrm>
          <a:prstGeom prst="ellipse">
            <a:avLst/>
          </a:prstGeom>
          <a:solidFill>
            <a:srgbClr val="FFFFFF">
              <a:alpha val="2087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643" y="3243606"/>
            <a:ext cx="32004" cy="32004"/>
          </a:xfrm>
          <a:prstGeom prst="ellipse">
            <a:avLst/>
          </a:prstGeom>
          <a:solidFill>
            <a:srgbClr val="FFFFFF">
              <a:alpha val="23541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4286" y="4615510"/>
            <a:ext cx="32004" cy="32004"/>
          </a:xfrm>
          <a:prstGeom prst="ellipse">
            <a:avLst/>
          </a:prstGeom>
          <a:solidFill>
            <a:srgbClr val="FFFFFF">
              <a:alpha val="3777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3494" y="4248767"/>
            <a:ext cx="32004" cy="32004"/>
          </a:xfrm>
          <a:prstGeom prst="ellipse">
            <a:avLst/>
          </a:prstGeom>
          <a:solidFill>
            <a:srgbClr val="FFFFFF">
              <a:alpha val="164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6645" y="2804874"/>
            <a:ext cx="32004" cy="32004"/>
          </a:xfrm>
          <a:prstGeom prst="ellipse">
            <a:avLst/>
          </a:prstGeom>
          <a:solidFill>
            <a:srgbClr val="FFFFFF">
              <a:alpha val="34141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2367" y="2360133"/>
            <a:ext cx="32004" cy="32004"/>
          </a:xfrm>
          <a:prstGeom prst="ellipse">
            <a:avLst/>
          </a:prstGeom>
          <a:solidFill>
            <a:srgbClr val="FFFFFF">
              <a:alpha val="4907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21907" y="3330394"/>
            <a:ext cx="32004" cy="32004"/>
          </a:xfrm>
          <a:prstGeom prst="ellipse">
            <a:avLst/>
          </a:prstGeom>
          <a:solidFill>
            <a:srgbClr val="FFFFFF">
              <a:alpha val="2166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71145" y="1467638"/>
            <a:ext cx="32004" cy="32004"/>
          </a:xfrm>
          <a:prstGeom prst="ellipse">
            <a:avLst/>
          </a:prstGeom>
          <a:solidFill>
            <a:srgbClr val="FFFFFF">
              <a:alpha val="27847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20165" y="2836241"/>
            <a:ext cx="32004" cy="32004"/>
          </a:xfrm>
          <a:prstGeom prst="ellipse">
            <a:avLst/>
          </a:prstGeom>
          <a:solidFill>
            <a:srgbClr val="FFFFFF">
              <a:alpha val="4375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88065" y="3791921"/>
            <a:ext cx="32004" cy="32004"/>
          </a:xfrm>
          <a:prstGeom prst="ellipse">
            <a:avLst/>
          </a:prstGeom>
          <a:solidFill>
            <a:srgbClr val="FFFFFF">
              <a:alpha val="56312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71036" y="4303330"/>
            <a:ext cx="32004" cy="32004"/>
          </a:xfrm>
          <a:prstGeom prst="ellipse">
            <a:avLst/>
          </a:prstGeom>
          <a:solidFill>
            <a:srgbClr val="FFFFFF">
              <a:alpha val="52599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513573" y="1544514"/>
            <a:ext cx="32004" cy="32004"/>
          </a:xfrm>
          <a:prstGeom prst="ellipse">
            <a:avLst/>
          </a:prstGeom>
          <a:solidFill>
            <a:srgbClr val="FFFFFF">
              <a:alpha val="32873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85353" y="1366296"/>
            <a:ext cx="32004" cy="32004"/>
          </a:xfrm>
          <a:prstGeom prst="ellipse">
            <a:avLst/>
          </a:prstGeom>
          <a:solidFill>
            <a:srgbClr val="FFFFFF">
              <a:alpha val="6497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53414" y="4608180"/>
            <a:ext cx="32004" cy="32004"/>
          </a:xfrm>
          <a:prstGeom prst="ellipse">
            <a:avLst/>
          </a:prstGeom>
          <a:solidFill>
            <a:srgbClr val="FFFFFF">
              <a:alpha val="64999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76952" y="1785181"/>
            <a:ext cx="32004" cy="32004"/>
          </a:xfrm>
          <a:prstGeom prst="ellipse">
            <a:avLst/>
          </a:prstGeom>
          <a:solidFill>
            <a:srgbClr val="FFFFFF">
              <a:alpha val="17407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95603" y="1713602"/>
            <a:ext cx="32004" cy="32004"/>
          </a:xfrm>
          <a:prstGeom prst="ellipse">
            <a:avLst/>
          </a:prstGeom>
          <a:solidFill>
            <a:srgbClr val="FFFFFF">
              <a:alpha val="28724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65413" y="4730569"/>
            <a:ext cx="32004" cy="32004"/>
          </a:xfrm>
          <a:prstGeom prst="ellipse">
            <a:avLst/>
          </a:prstGeom>
          <a:solidFill>
            <a:srgbClr val="FFFFFF">
              <a:alpha val="6446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72941" y="4609836"/>
            <a:ext cx="32004" cy="32004"/>
          </a:xfrm>
          <a:prstGeom prst="ellipse">
            <a:avLst/>
          </a:prstGeom>
          <a:solidFill>
            <a:srgbClr val="FFFFFF">
              <a:alpha val="35534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86434" y="3018765"/>
            <a:ext cx="32004" cy="32004"/>
          </a:xfrm>
          <a:prstGeom prst="ellipse">
            <a:avLst/>
          </a:prstGeom>
          <a:solidFill>
            <a:srgbClr val="FFFFFF">
              <a:alpha val="45237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8460" y="4289731"/>
            <a:ext cx="32004" cy="32004"/>
          </a:xfrm>
          <a:prstGeom prst="ellipse">
            <a:avLst/>
          </a:prstGeom>
          <a:solidFill>
            <a:srgbClr val="FFFFFF">
              <a:alpha val="2212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201026" y="1180562"/>
            <a:ext cx="32004" cy="32004"/>
          </a:xfrm>
          <a:prstGeom prst="ellipse">
            <a:avLst/>
          </a:prstGeom>
          <a:solidFill>
            <a:srgbClr val="FFFFFF">
              <a:alpha val="4855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24239" y="2103810"/>
            <a:ext cx="32004" cy="32004"/>
          </a:xfrm>
          <a:prstGeom prst="ellipse">
            <a:avLst/>
          </a:prstGeom>
          <a:solidFill>
            <a:srgbClr val="FFFFFF">
              <a:alpha val="271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98491" y="1239540"/>
            <a:ext cx="32004" cy="32004"/>
          </a:xfrm>
          <a:prstGeom prst="ellipse">
            <a:avLst/>
          </a:prstGeom>
          <a:solidFill>
            <a:srgbClr val="FFFFFF">
              <a:alpha val="43112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2441" y="2156087"/>
            <a:ext cx="32004" cy="32004"/>
          </a:xfrm>
          <a:prstGeom prst="ellipse">
            <a:avLst/>
          </a:prstGeom>
          <a:solidFill>
            <a:srgbClr val="FFFFFF">
              <a:alpha val="43467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97838" y="3053833"/>
            <a:ext cx="32004" cy="32004"/>
          </a:xfrm>
          <a:prstGeom prst="ellipse">
            <a:avLst/>
          </a:prstGeom>
          <a:solidFill>
            <a:srgbClr val="FFFFFF">
              <a:alpha val="34512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82776" y="2554972"/>
            <a:ext cx="32004" cy="32004"/>
          </a:xfrm>
          <a:prstGeom prst="ellipse">
            <a:avLst/>
          </a:prstGeom>
          <a:solidFill>
            <a:srgbClr val="FFFFFF">
              <a:alpha val="41929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1775" y="2617151"/>
            <a:ext cx="32004" cy="32004"/>
          </a:xfrm>
          <a:prstGeom prst="ellipse">
            <a:avLst/>
          </a:prstGeom>
          <a:solidFill>
            <a:srgbClr val="FFFFFF">
              <a:alpha val="5318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30045" y="3978087"/>
            <a:ext cx="32004" cy="32004"/>
          </a:xfrm>
          <a:prstGeom prst="ellipse">
            <a:avLst/>
          </a:prstGeom>
          <a:solidFill>
            <a:srgbClr val="FFFFFF">
              <a:alpha val="4837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51655" y="1800198"/>
            <a:ext cx="32004" cy="32004"/>
          </a:xfrm>
          <a:prstGeom prst="ellipse">
            <a:avLst/>
          </a:prstGeom>
          <a:solidFill>
            <a:srgbClr val="FFFFFF">
              <a:alpha val="62061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297373" y="1541090"/>
            <a:ext cx="32004" cy="32004"/>
          </a:xfrm>
          <a:prstGeom prst="ellipse">
            <a:avLst/>
          </a:prstGeom>
          <a:solidFill>
            <a:srgbClr val="FFFFFF">
              <a:alpha val="5718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92506" y="1799887"/>
            <a:ext cx="32004" cy="32004"/>
          </a:xfrm>
          <a:prstGeom prst="ellipse">
            <a:avLst/>
          </a:prstGeom>
          <a:solidFill>
            <a:srgbClr val="FFFFFF">
              <a:alpha val="64375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38480" y="1247848"/>
            <a:ext cx="32004" cy="32004"/>
          </a:xfrm>
          <a:prstGeom prst="ellipse">
            <a:avLst/>
          </a:prstGeom>
          <a:solidFill>
            <a:srgbClr val="FFFFFF">
              <a:alpha val="56135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16472" y="4582844"/>
            <a:ext cx="32004" cy="32004"/>
          </a:xfrm>
          <a:prstGeom prst="ellipse">
            <a:avLst/>
          </a:prstGeom>
          <a:solidFill>
            <a:srgbClr val="FFFFFF">
              <a:alpha val="4685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36495" y="4339687"/>
            <a:ext cx="32004" cy="32004"/>
          </a:xfrm>
          <a:prstGeom prst="ellipse">
            <a:avLst/>
          </a:prstGeom>
          <a:solidFill>
            <a:srgbClr val="FFFFFF">
              <a:alpha val="2492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928179" y="4326142"/>
            <a:ext cx="32004" cy="32004"/>
          </a:xfrm>
          <a:prstGeom prst="ellipse">
            <a:avLst/>
          </a:prstGeom>
          <a:solidFill>
            <a:srgbClr val="FFFFFF">
              <a:alpha val="39663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84028" y="2275289"/>
            <a:ext cx="32004" cy="32004"/>
          </a:xfrm>
          <a:prstGeom prst="ellipse">
            <a:avLst/>
          </a:prstGeom>
          <a:solidFill>
            <a:srgbClr val="FFFFFF">
              <a:alpha val="23661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76470" y="3823835"/>
            <a:ext cx="32004" cy="32004"/>
          </a:xfrm>
          <a:prstGeom prst="ellipse">
            <a:avLst/>
          </a:prstGeom>
          <a:solidFill>
            <a:srgbClr val="FFFFFF">
              <a:alpha val="2047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43675" y="1708649"/>
            <a:ext cx="32004" cy="32004"/>
          </a:xfrm>
          <a:prstGeom prst="ellipse">
            <a:avLst/>
          </a:prstGeom>
          <a:solidFill>
            <a:srgbClr val="FFFFFF">
              <a:alpha val="59257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49410" y="4373243"/>
            <a:ext cx="32004" cy="32004"/>
          </a:xfrm>
          <a:prstGeom prst="ellipse">
            <a:avLst/>
          </a:prstGeom>
          <a:solidFill>
            <a:srgbClr val="FFFFFF">
              <a:alpha val="17213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280157" y="1732200"/>
            <a:ext cx="32004" cy="32004"/>
          </a:xfrm>
          <a:prstGeom prst="ellipse">
            <a:avLst/>
          </a:prstGeom>
          <a:solidFill>
            <a:srgbClr val="FFFFFF">
              <a:alpha val="20417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121132" y="2540887"/>
            <a:ext cx="32004" cy="32004"/>
          </a:xfrm>
          <a:prstGeom prst="ellipse">
            <a:avLst/>
          </a:prstGeom>
          <a:solidFill>
            <a:srgbClr val="FFFFFF">
              <a:alpha val="45791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99543" y="1829873"/>
            <a:ext cx="32004" cy="32004"/>
          </a:xfrm>
          <a:prstGeom prst="ellipse">
            <a:avLst/>
          </a:prstGeom>
          <a:solidFill>
            <a:srgbClr val="FFFFFF">
              <a:alpha val="52761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07016" y="4672905"/>
            <a:ext cx="32004" cy="32004"/>
          </a:xfrm>
          <a:prstGeom prst="ellipse">
            <a:avLst/>
          </a:prstGeom>
          <a:solidFill>
            <a:srgbClr val="FFFFFF">
              <a:alpha val="48361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23118" y="4188163"/>
            <a:ext cx="32004" cy="32004"/>
          </a:xfrm>
          <a:prstGeom prst="ellipse">
            <a:avLst/>
          </a:prstGeom>
          <a:solidFill>
            <a:srgbClr val="FFFFFF">
              <a:alpha val="45581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663565" y="3933810"/>
            <a:ext cx="32004" cy="32004"/>
          </a:xfrm>
          <a:prstGeom prst="ellipse">
            <a:avLst/>
          </a:prstGeom>
          <a:solidFill>
            <a:srgbClr val="FFFFFF">
              <a:alpha val="46609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01450" y="1283319"/>
            <a:ext cx="32004" cy="32004"/>
          </a:xfrm>
          <a:prstGeom prst="ellipse">
            <a:avLst/>
          </a:prstGeom>
          <a:solidFill>
            <a:srgbClr val="FFFFFF">
              <a:alpha val="2636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060894" y="1306702"/>
            <a:ext cx="32004" cy="32004"/>
          </a:xfrm>
          <a:prstGeom prst="ellipse">
            <a:avLst/>
          </a:prstGeom>
          <a:solidFill>
            <a:srgbClr val="FFFFFF">
              <a:alpha val="18547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818809" y="4047480"/>
            <a:ext cx="32004" cy="32004"/>
          </a:xfrm>
          <a:prstGeom prst="ellipse">
            <a:avLst/>
          </a:prstGeom>
          <a:solidFill>
            <a:srgbClr val="FFFFFF">
              <a:alpha val="5364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309080" y="3239848"/>
            <a:ext cx="32004" cy="32004"/>
          </a:xfrm>
          <a:prstGeom prst="ellipse">
            <a:avLst/>
          </a:prstGeom>
          <a:solidFill>
            <a:srgbClr val="FFFFFF">
              <a:alpha val="5424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25498" y="3219540"/>
            <a:ext cx="32004" cy="32004"/>
          </a:xfrm>
          <a:prstGeom prst="ellipse">
            <a:avLst/>
          </a:prstGeom>
          <a:solidFill>
            <a:srgbClr val="FFFFFF">
              <a:alpha val="46962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36343" y="2140942"/>
            <a:ext cx="32004" cy="32004"/>
          </a:xfrm>
          <a:prstGeom prst="ellipse">
            <a:avLst/>
          </a:prstGeom>
          <a:solidFill>
            <a:srgbClr val="FFFFFF">
              <a:alpha val="2222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99856" y="4461942"/>
            <a:ext cx="32004" cy="32004"/>
          </a:xfrm>
          <a:prstGeom prst="ellipse">
            <a:avLst/>
          </a:prstGeom>
          <a:solidFill>
            <a:srgbClr val="FFFFFF">
              <a:alpha val="4900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891348" y="1439436"/>
            <a:ext cx="32004" cy="32004"/>
          </a:xfrm>
          <a:prstGeom prst="ellipse">
            <a:avLst/>
          </a:prstGeom>
          <a:solidFill>
            <a:srgbClr val="FFFFFF">
              <a:alpha val="4155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43629" y="4402859"/>
            <a:ext cx="32004" cy="32004"/>
          </a:xfrm>
          <a:prstGeom prst="ellipse">
            <a:avLst/>
          </a:prstGeom>
          <a:solidFill>
            <a:srgbClr val="FFFFFF">
              <a:alpha val="1876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34993" y="2718758"/>
            <a:ext cx="32004" cy="32004"/>
          </a:xfrm>
          <a:prstGeom prst="ellipse">
            <a:avLst/>
          </a:prstGeom>
          <a:solidFill>
            <a:srgbClr val="FFFFFF">
              <a:alpha val="22567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32225" y="2014870"/>
            <a:ext cx="32004" cy="32004"/>
          </a:xfrm>
          <a:prstGeom prst="ellipse">
            <a:avLst/>
          </a:prstGeom>
          <a:solidFill>
            <a:srgbClr val="FFFFFF">
              <a:alpha val="39662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272419" y="1936965"/>
            <a:ext cx="32004" cy="32004"/>
          </a:xfrm>
          <a:prstGeom prst="ellipse">
            <a:avLst/>
          </a:prstGeom>
          <a:solidFill>
            <a:srgbClr val="FFFFFF">
              <a:alpha val="58935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220550" y="4428158"/>
            <a:ext cx="32004" cy="32004"/>
          </a:xfrm>
          <a:prstGeom prst="ellipse">
            <a:avLst/>
          </a:prstGeom>
          <a:solidFill>
            <a:srgbClr val="FFFFFF">
              <a:alpha val="43751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091055" y="1286335"/>
            <a:ext cx="32004" cy="32004"/>
          </a:xfrm>
          <a:prstGeom prst="ellipse">
            <a:avLst/>
          </a:prstGeom>
          <a:solidFill>
            <a:srgbClr val="FFFFFF">
              <a:alpha val="22075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34986" y="2995790"/>
            <a:ext cx="32004" cy="32004"/>
          </a:xfrm>
          <a:prstGeom prst="ellipse">
            <a:avLst/>
          </a:prstGeom>
          <a:solidFill>
            <a:srgbClr val="FFFFFF">
              <a:alpha val="33021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563353" y="2632316"/>
            <a:ext cx="32004" cy="32004"/>
          </a:xfrm>
          <a:prstGeom prst="ellipse">
            <a:avLst/>
          </a:prstGeom>
          <a:solidFill>
            <a:srgbClr val="FFFFFF">
              <a:alpha val="15797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590257" y="3410748"/>
            <a:ext cx="32004" cy="32004"/>
          </a:xfrm>
          <a:prstGeom prst="ellipse">
            <a:avLst/>
          </a:prstGeom>
          <a:solidFill>
            <a:srgbClr val="FFFFFF">
              <a:alpha val="47293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50582" y="1941869"/>
            <a:ext cx="32004" cy="32004"/>
          </a:xfrm>
          <a:prstGeom prst="ellipse">
            <a:avLst/>
          </a:prstGeom>
          <a:solidFill>
            <a:srgbClr val="FFFFFF">
              <a:alpha val="37460"/>
            </a:srgbClr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B  ·  COST  ·  2 / 2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</a:rPr>
              <a:t>Why Mine Water in Space Instead of Carrying It?</a:t>
            </a:r>
            <a:endParaRPr lang="en-US" sz="26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B bonus: comparison with conventional asteroid mining, plus what breaks our numbers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4846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baselines are our own estimates (Falcon 9 ~$3,000/kg to LEO or Starship ~$600/kg, times ~3.3 mass penalty to lunar orbit). Conventional column is qualitative.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846320" cy="26517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0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0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Bennu Well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E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Platinum-group metals sent to Earth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Water, kept in 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E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Propellant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 from Earth, e.g. xenon, every 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Mined on site, $0 after first fill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E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Re-entry capsule, tiny cargo, one-off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tug, 185 t sold per trip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E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Mining 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Drills, crushers, ore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Inflatable bag + mirrors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E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must beat Earth mines at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~$380/kg water vs $2,000-10,000 from Earth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3" name="Chart 0"/>
          <p:cNvGraphicFramePr/>
          <p:nvPr/>
        </p:nvGraphicFramePr>
        <p:xfrm>
          <a:off x="5349240" y="1188720"/>
          <a:ext cx="3429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4" name="Text 70"/>
          <p:cNvSpPr txBox="1"/>
          <p:nvPr/>
        </p:nvSpPr>
        <p:spPr>
          <a:xfrm>
            <a:off x="5349240" y="3977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the soft spot: if the rig recovers half the water we plan for, IRR falls to 3.8%. Price and hardware cost matter next. Launch cost barely moves it.</a:t>
            </a:r>
            <a:endParaRPr lang="en-US" sz="1050" dirty="0"/>
          </a:p>
        </p:txBody>
      </p:sp>
      <p:sp>
        <p:nvSpPr>
          <p:cNvPr id="75" name="Shape 71"/>
          <p:cNvSpPr/>
          <p:nvPr/>
        </p:nvSpPr>
        <p:spPr>
          <a:xfrm>
            <a:off x="365760" y="4206240"/>
            <a:ext cx="4846320" cy="530352"/>
          </a:xfrm>
          <a:prstGeom prst="rect">
            <a:avLst/>
          </a:prstGeom>
          <a:solidFill>
            <a:srgbClr val="1B1608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365760" y="4206240"/>
            <a:ext cx="4846320" cy="530352"/>
          </a:xfrm>
          <a:prstGeom prst="rect">
            <a:avLst/>
          </a:prstGeom>
          <a:solidFill>
            <a:srgbClr val="1B1608"/>
          </a:solidFill>
          <a:ln w="12700">
            <a:solidFill>
              <a:srgbClr val="FFE81F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457200" y="4224528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cheaper: we never pay to haul propellant up a gravity well, and the cargo is bulk water that sells where it is made.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5819" y="4087965"/>
            <a:ext cx="32004" cy="32004"/>
          </a:xfrm>
          <a:prstGeom prst="ellipse">
            <a:avLst/>
          </a:prstGeom>
          <a:solidFill>
            <a:srgbClr val="FFFFFF">
              <a:alpha val="3736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42812" y="2972937"/>
            <a:ext cx="32004" cy="32004"/>
          </a:xfrm>
          <a:prstGeom prst="ellipse">
            <a:avLst/>
          </a:prstGeom>
          <a:solidFill>
            <a:srgbClr val="FFFFFF">
              <a:alpha val="536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50016" y="4274816"/>
            <a:ext cx="32004" cy="32004"/>
          </a:xfrm>
          <a:prstGeom prst="ellipse">
            <a:avLst/>
          </a:prstGeom>
          <a:solidFill>
            <a:srgbClr val="FFFFFF">
              <a:alpha val="1355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73253" y="1761339"/>
            <a:ext cx="32004" cy="32004"/>
          </a:xfrm>
          <a:prstGeom prst="ellipse">
            <a:avLst/>
          </a:prstGeom>
          <a:solidFill>
            <a:srgbClr val="FFFFFF">
              <a:alpha val="54631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10032" y="2707270"/>
            <a:ext cx="32004" cy="32004"/>
          </a:xfrm>
          <a:prstGeom prst="ellipse">
            <a:avLst/>
          </a:prstGeom>
          <a:solidFill>
            <a:srgbClr val="FFFFFF">
              <a:alpha val="43997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11881" y="3120063"/>
            <a:ext cx="32004" cy="32004"/>
          </a:xfrm>
          <a:prstGeom prst="ellipse">
            <a:avLst/>
          </a:prstGeom>
          <a:solidFill>
            <a:srgbClr val="FFFFFF">
              <a:alpha val="1625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406679" y="2252773"/>
            <a:ext cx="32004" cy="32004"/>
          </a:xfrm>
          <a:prstGeom prst="ellipse">
            <a:avLst/>
          </a:prstGeom>
          <a:solidFill>
            <a:srgbClr val="FFFFFF">
              <a:alpha val="3720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6698" y="4656807"/>
            <a:ext cx="32004" cy="32004"/>
          </a:xfrm>
          <a:prstGeom prst="ellipse">
            <a:avLst/>
          </a:prstGeom>
          <a:solidFill>
            <a:srgbClr val="FFFFFF">
              <a:alpha val="3709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81365" y="1242607"/>
            <a:ext cx="32004" cy="32004"/>
          </a:xfrm>
          <a:prstGeom prst="ellipse">
            <a:avLst/>
          </a:prstGeom>
          <a:solidFill>
            <a:srgbClr val="FFFFFF">
              <a:alpha val="29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81079" y="2286355"/>
            <a:ext cx="32004" cy="32004"/>
          </a:xfrm>
          <a:prstGeom prst="ellipse">
            <a:avLst/>
          </a:prstGeom>
          <a:solidFill>
            <a:srgbClr val="FFFFFF">
              <a:alpha val="24707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74361" y="3268176"/>
            <a:ext cx="32004" cy="32004"/>
          </a:xfrm>
          <a:prstGeom prst="ellipse">
            <a:avLst/>
          </a:prstGeom>
          <a:solidFill>
            <a:srgbClr val="FFFFFF">
              <a:alpha val="17477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97550" y="1438368"/>
            <a:ext cx="32004" cy="32004"/>
          </a:xfrm>
          <a:prstGeom prst="ellipse">
            <a:avLst/>
          </a:prstGeom>
          <a:solidFill>
            <a:srgbClr val="FFFFFF">
              <a:alpha val="1784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965601" y="4728326"/>
            <a:ext cx="32004" cy="32004"/>
          </a:xfrm>
          <a:prstGeom prst="ellipse">
            <a:avLst/>
          </a:prstGeom>
          <a:solidFill>
            <a:srgbClr val="FFFFFF">
              <a:alpha val="3668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93325" y="3784961"/>
            <a:ext cx="32004" cy="32004"/>
          </a:xfrm>
          <a:prstGeom prst="ellipse">
            <a:avLst/>
          </a:prstGeom>
          <a:solidFill>
            <a:srgbClr val="FFFFFF">
              <a:alpha val="156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37215" y="1299280"/>
            <a:ext cx="32004" cy="32004"/>
          </a:xfrm>
          <a:prstGeom prst="ellipse">
            <a:avLst/>
          </a:prstGeom>
          <a:solidFill>
            <a:srgbClr val="FFFFFF">
              <a:alpha val="62634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0414" y="3386098"/>
            <a:ext cx="32004" cy="32004"/>
          </a:xfrm>
          <a:prstGeom prst="ellipse">
            <a:avLst/>
          </a:prstGeom>
          <a:solidFill>
            <a:srgbClr val="FFFFFF">
              <a:alpha val="1296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30176" y="1195714"/>
            <a:ext cx="32004" cy="32004"/>
          </a:xfrm>
          <a:prstGeom prst="ellipse">
            <a:avLst/>
          </a:prstGeom>
          <a:solidFill>
            <a:srgbClr val="FFFFFF">
              <a:alpha val="13524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0738" y="3184424"/>
            <a:ext cx="32004" cy="32004"/>
          </a:xfrm>
          <a:prstGeom prst="ellipse">
            <a:avLst/>
          </a:prstGeom>
          <a:solidFill>
            <a:srgbClr val="FFFFFF">
              <a:alpha val="1146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75843" y="1192782"/>
            <a:ext cx="32004" cy="32004"/>
          </a:xfrm>
          <a:prstGeom prst="ellipse">
            <a:avLst/>
          </a:prstGeom>
          <a:solidFill>
            <a:srgbClr val="FFFFFF">
              <a:alpha val="57339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74572" y="3488005"/>
            <a:ext cx="32004" cy="32004"/>
          </a:xfrm>
          <a:prstGeom prst="ellipse">
            <a:avLst/>
          </a:prstGeom>
          <a:solidFill>
            <a:srgbClr val="FFFFFF">
              <a:alpha val="37207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74345" y="4246260"/>
            <a:ext cx="32004" cy="32004"/>
          </a:xfrm>
          <a:prstGeom prst="ellipse">
            <a:avLst/>
          </a:prstGeom>
          <a:solidFill>
            <a:srgbClr val="FFFFFF">
              <a:alpha val="37119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1888" y="2919333"/>
            <a:ext cx="32004" cy="32004"/>
          </a:xfrm>
          <a:prstGeom prst="ellipse">
            <a:avLst/>
          </a:prstGeom>
          <a:solidFill>
            <a:srgbClr val="FFFFFF">
              <a:alpha val="61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112322" y="1726308"/>
            <a:ext cx="32004" cy="32004"/>
          </a:xfrm>
          <a:prstGeom prst="ellipse">
            <a:avLst/>
          </a:prstGeom>
          <a:solidFill>
            <a:srgbClr val="FFFFFF">
              <a:alpha val="5844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05397" y="2488907"/>
            <a:ext cx="32004" cy="32004"/>
          </a:xfrm>
          <a:prstGeom prst="ellipse">
            <a:avLst/>
          </a:prstGeom>
          <a:solidFill>
            <a:srgbClr val="FFFFFF">
              <a:alpha val="30031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56680" y="1748404"/>
            <a:ext cx="32004" cy="32004"/>
          </a:xfrm>
          <a:prstGeom prst="ellipse">
            <a:avLst/>
          </a:prstGeom>
          <a:solidFill>
            <a:srgbClr val="FFFFFF">
              <a:alpha val="12072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99286" y="4077399"/>
            <a:ext cx="32004" cy="32004"/>
          </a:xfrm>
          <a:prstGeom prst="ellipse">
            <a:avLst/>
          </a:prstGeom>
          <a:solidFill>
            <a:srgbClr val="FFFFFF">
              <a:alpha val="54527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50306" y="4153198"/>
            <a:ext cx="32004" cy="32004"/>
          </a:xfrm>
          <a:prstGeom prst="ellipse">
            <a:avLst/>
          </a:prstGeom>
          <a:solidFill>
            <a:srgbClr val="FFFFFF">
              <a:alpha val="3727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57509" y="2605235"/>
            <a:ext cx="32004" cy="32004"/>
          </a:xfrm>
          <a:prstGeom prst="ellipse">
            <a:avLst/>
          </a:prstGeom>
          <a:solidFill>
            <a:srgbClr val="FFFFFF">
              <a:alpha val="43519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7843" y="1563076"/>
            <a:ext cx="32004" cy="32004"/>
          </a:xfrm>
          <a:prstGeom prst="ellipse">
            <a:avLst/>
          </a:prstGeom>
          <a:solidFill>
            <a:srgbClr val="FFFFFF">
              <a:alpha val="3103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2371" y="2116536"/>
            <a:ext cx="32004" cy="32004"/>
          </a:xfrm>
          <a:prstGeom prst="ellipse">
            <a:avLst/>
          </a:prstGeom>
          <a:solidFill>
            <a:srgbClr val="FFFFFF">
              <a:alpha val="53041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73030" y="3834421"/>
            <a:ext cx="32004" cy="32004"/>
          </a:xfrm>
          <a:prstGeom prst="ellipse">
            <a:avLst/>
          </a:prstGeom>
          <a:solidFill>
            <a:srgbClr val="FFFFFF">
              <a:alpha val="54605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4226" y="3275765"/>
            <a:ext cx="32004" cy="32004"/>
          </a:xfrm>
          <a:prstGeom prst="ellipse">
            <a:avLst/>
          </a:prstGeom>
          <a:solidFill>
            <a:srgbClr val="FFFFFF">
              <a:alpha val="52641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30138" y="4455806"/>
            <a:ext cx="32004" cy="32004"/>
          </a:xfrm>
          <a:prstGeom prst="ellipse">
            <a:avLst/>
          </a:prstGeom>
          <a:solidFill>
            <a:srgbClr val="FFFFFF">
              <a:alpha val="2193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28370" y="3084840"/>
            <a:ext cx="32004" cy="32004"/>
          </a:xfrm>
          <a:prstGeom prst="ellipse">
            <a:avLst/>
          </a:prstGeom>
          <a:solidFill>
            <a:srgbClr val="FFFFFF">
              <a:alpha val="55259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94698" y="3567236"/>
            <a:ext cx="32004" cy="32004"/>
          </a:xfrm>
          <a:prstGeom prst="ellipse">
            <a:avLst/>
          </a:prstGeom>
          <a:solidFill>
            <a:srgbClr val="FFFFFF">
              <a:alpha val="4916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37808" y="2342620"/>
            <a:ext cx="32004" cy="32004"/>
          </a:xfrm>
          <a:prstGeom prst="ellipse">
            <a:avLst/>
          </a:prstGeom>
          <a:solidFill>
            <a:srgbClr val="FFFFFF">
              <a:alpha val="23033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634727" y="3213054"/>
            <a:ext cx="32004" cy="32004"/>
          </a:xfrm>
          <a:prstGeom prst="ellipse">
            <a:avLst/>
          </a:prstGeom>
          <a:solidFill>
            <a:srgbClr val="FFFFFF">
              <a:alpha val="290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541972" y="2165676"/>
            <a:ext cx="32004" cy="32004"/>
          </a:xfrm>
          <a:prstGeom prst="ellipse">
            <a:avLst/>
          </a:prstGeom>
          <a:solidFill>
            <a:srgbClr val="FFFFFF">
              <a:alpha val="4105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95601" y="2189113"/>
            <a:ext cx="32004" cy="32004"/>
          </a:xfrm>
          <a:prstGeom prst="ellipse">
            <a:avLst/>
          </a:prstGeom>
          <a:solidFill>
            <a:srgbClr val="FFFFFF">
              <a:alpha val="23227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67247" y="3787930"/>
            <a:ext cx="32004" cy="32004"/>
          </a:xfrm>
          <a:prstGeom prst="ellipse">
            <a:avLst/>
          </a:prstGeom>
          <a:solidFill>
            <a:srgbClr val="FFFFFF">
              <a:alpha val="1988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49596" y="4163454"/>
            <a:ext cx="32004" cy="32004"/>
          </a:xfrm>
          <a:prstGeom prst="ellipse">
            <a:avLst/>
          </a:prstGeom>
          <a:solidFill>
            <a:srgbClr val="FFFFFF">
              <a:alpha val="22189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406485" y="4452495"/>
            <a:ext cx="32004" cy="32004"/>
          </a:xfrm>
          <a:prstGeom prst="ellipse">
            <a:avLst/>
          </a:prstGeom>
          <a:solidFill>
            <a:srgbClr val="FFFFFF">
              <a:alpha val="25512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95498" y="1271449"/>
            <a:ext cx="32004" cy="32004"/>
          </a:xfrm>
          <a:prstGeom prst="ellipse">
            <a:avLst/>
          </a:prstGeom>
          <a:solidFill>
            <a:srgbClr val="FFFFFF">
              <a:alpha val="63125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750185" y="3016628"/>
            <a:ext cx="32004" cy="32004"/>
          </a:xfrm>
          <a:prstGeom prst="ellipse">
            <a:avLst/>
          </a:prstGeom>
          <a:solidFill>
            <a:srgbClr val="FFFFFF">
              <a:alpha val="52962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231351" y="2699736"/>
            <a:ext cx="32004" cy="32004"/>
          </a:xfrm>
          <a:prstGeom prst="ellipse">
            <a:avLst/>
          </a:prstGeom>
          <a:solidFill>
            <a:srgbClr val="FFFFFF">
              <a:alpha val="5379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46246" y="4277145"/>
            <a:ext cx="32004" cy="32004"/>
          </a:xfrm>
          <a:prstGeom prst="ellipse">
            <a:avLst/>
          </a:prstGeom>
          <a:solidFill>
            <a:srgbClr val="FFFFFF">
              <a:alpha val="25405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98717" y="1150612"/>
            <a:ext cx="32004" cy="32004"/>
          </a:xfrm>
          <a:prstGeom prst="ellipse">
            <a:avLst/>
          </a:prstGeom>
          <a:solidFill>
            <a:srgbClr val="FFFFFF">
              <a:alpha val="5337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07793" y="2009712"/>
            <a:ext cx="32004" cy="32004"/>
          </a:xfrm>
          <a:prstGeom prst="ellipse">
            <a:avLst/>
          </a:prstGeom>
          <a:solidFill>
            <a:srgbClr val="FFFFFF">
              <a:alpha val="52635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9666" y="4507069"/>
            <a:ext cx="32004" cy="32004"/>
          </a:xfrm>
          <a:prstGeom prst="ellipse">
            <a:avLst/>
          </a:prstGeom>
          <a:solidFill>
            <a:srgbClr val="FFFFFF">
              <a:alpha val="59624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55440" y="2231068"/>
            <a:ext cx="32004" cy="32004"/>
          </a:xfrm>
          <a:prstGeom prst="ellipse">
            <a:avLst/>
          </a:prstGeom>
          <a:solidFill>
            <a:srgbClr val="FFFFFF">
              <a:alpha val="1170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3155" y="1846357"/>
            <a:ext cx="32004" cy="32004"/>
          </a:xfrm>
          <a:prstGeom prst="ellipse">
            <a:avLst/>
          </a:prstGeom>
          <a:solidFill>
            <a:srgbClr val="FFFFFF">
              <a:alpha val="47973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0411" y="1547995"/>
            <a:ext cx="32004" cy="32004"/>
          </a:xfrm>
          <a:prstGeom prst="ellipse">
            <a:avLst/>
          </a:prstGeom>
          <a:solidFill>
            <a:srgbClr val="FFFFFF">
              <a:alpha val="52955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14886" y="2670685"/>
            <a:ext cx="32004" cy="32004"/>
          </a:xfrm>
          <a:prstGeom prst="ellipse">
            <a:avLst/>
          </a:prstGeom>
          <a:solidFill>
            <a:srgbClr val="FFFFFF">
              <a:alpha val="58584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360318" y="2904462"/>
            <a:ext cx="32004" cy="32004"/>
          </a:xfrm>
          <a:prstGeom prst="ellipse">
            <a:avLst/>
          </a:prstGeom>
          <a:solidFill>
            <a:srgbClr val="FFFFFF">
              <a:alpha val="44414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90464" y="2653050"/>
            <a:ext cx="32004" cy="32004"/>
          </a:xfrm>
          <a:prstGeom prst="ellipse">
            <a:avLst/>
          </a:prstGeom>
          <a:solidFill>
            <a:srgbClr val="FFFFFF">
              <a:alpha val="54828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104033" y="1766057"/>
            <a:ext cx="32004" cy="32004"/>
          </a:xfrm>
          <a:prstGeom prst="ellipse">
            <a:avLst/>
          </a:prstGeom>
          <a:solidFill>
            <a:srgbClr val="FFFFFF">
              <a:alpha val="12394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622175" y="4714562"/>
            <a:ext cx="32004" cy="32004"/>
          </a:xfrm>
          <a:prstGeom prst="ellipse">
            <a:avLst/>
          </a:prstGeom>
          <a:solidFill>
            <a:srgbClr val="FFFFFF">
              <a:alpha val="36564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108502" y="4291463"/>
            <a:ext cx="32004" cy="32004"/>
          </a:xfrm>
          <a:prstGeom prst="ellipse">
            <a:avLst/>
          </a:prstGeom>
          <a:solidFill>
            <a:srgbClr val="FFFFFF">
              <a:alpha val="33735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79479" y="4141091"/>
            <a:ext cx="32004" cy="32004"/>
          </a:xfrm>
          <a:prstGeom prst="ellipse">
            <a:avLst/>
          </a:prstGeom>
          <a:solidFill>
            <a:srgbClr val="FFFFFF">
              <a:alpha val="6269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616583" y="1765298"/>
            <a:ext cx="32004" cy="32004"/>
          </a:xfrm>
          <a:prstGeom prst="ellipse">
            <a:avLst/>
          </a:prstGeom>
          <a:solidFill>
            <a:srgbClr val="FFFFFF">
              <a:alpha val="4195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267126" y="2803550"/>
            <a:ext cx="32004" cy="32004"/>
          </a:xfrm>
          <a:prstGeom prst="ellipse">
            <a:avLst/>
          </a:prstGeom>
          <a:solidFill>
            <a:srgbClr val="FFFFFF">
              <a:alpha val="57485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203537" y="4507825"/>
            <a:ext cx="32004" cy="32004"/>
          </a:xfrm>
          <a:prstGeom prst="ellipse">
            <a:avLst/>
          </a:prstGeom>
          <a:solidFill>
            <a:srgbClr val="FFFFFF">
              <a:alpha val="305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561650" y="1819545"/>
            <a:ext cx="32004" cy="32004"/>
          </a:xfrm>
          <a:prstGeom prst="ellipse">
            <a:avLst/>
          </a:prstGeom>
          <a:solidFill>
            <a:srgbClr val="FFFFFF">
              <a:alpha val="26178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445997" y="1222327"/>
            <a:ext cx="32004" cy="32004"/>
          </a:xfrm>
          <a:prstGeom prst="ellipse">
            <a:avLst/>
          </a:prstGeom>
          <a:solidFill>
            <a:srgbClr val="FFFFFF">
              <a:alpha val="1694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600677" y="4121688"/>
            <a:ext cx="32004" cy="32004"/>
          </a:xfrm>
          <a:prstGeom prst="ellipse">
            <a:avLst/>
          </a:prstGeom>
          <a:solidFill>
            <a:srgbClr val="FFFFFF">
              <a:alpha val="54005"/>
            </a:srgbClr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C  ·  BUSINESS  ·  1 / 2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 for water, and where we sell it</a:t>
            </a:r>
            <a:endParaRPr lang="en-US" sz="26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C: product, customers with assumptions, where to sell, how we earn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4846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 publicly bid $1,000/kg for propellant in lunar orbit and $3,000-7,000/kg in LEO (IAC-18 paper). Demand figure on this slide is our assumption, not a signed order.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5120640" cy="1874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0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0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use water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0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stand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refuelling + tug operators (Orbit Fab, Astroscale, Space Force programs)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Propellant top-ups, water thrusters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 flying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companies building depots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propellant in cislunar 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price 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stations and lunar missions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water, shielding, landers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8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365760" y="3200400"/>
            <a:ext cx="5120640" cy="45720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5720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E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assumption: </a:t>
            </a:r>
            <a:r>
              <a:rPr lang="en-US" sz="10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cislunar users need at least 400 t of water a year by the mid-2030s. We sell about 370.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365760" y="3794760"/>
            <a:ext cx="1645920" cy="91440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38912" y="3813048"/>
            <a:ext cx="14996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Bring to Earth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Re-entry costs, and Earth water is nearly free.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103120" y="3794760"/>
            <a:ext cx="1645920" cy="91440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2176272" y="3813048"/>
            <a:ext cx="14996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Use it ourselves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116 t per trip is our own return fuel.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3840480" y="3794760"/>
            <a:ext cx="1645920" cy="914400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3913632" y="3813048"/>
            <a:ext cx="14996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Sell in cislunar space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This is the revenue line.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5669280" y="1234440"/>
            <a:ext cx="3063240" cy="3474720"/>
          </a:xfrm>
          <a:prstGeom prst="rect">
            <a:avLst/>
          </a:prstGeom>
          <a:solidFill>
            <a:srgbClr val="0A1220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580644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make money</a:t>
            </a:r>
            <a:endParaRPr lang="en-US" sz="1400" dirty="0"/>
          </a:p>
        </p:txBody>
      </p:sp>
      <p:sp>
        <p:nvSpPr>
          <p:cNvPr id="83" name="Text 80"/>
          <p:cNvSpPr txBox="1"/>
          <p:nvPr/>
        </p:nvSpPr>
        <p:spPr>
          <a:xfrm>
            <a:off x="580644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</a:t>
            </a:r>
            <a:endParaRPr lang="en-US" sz="3600" dirty="0"/>
          </a:p>
        </p:txBody>
      </p:sp>
      <p:sp>
        <p:nvSpPr>
          <p:cNvPr id="84" name="Text 81"/>
          <p:cNvSpPr txBox="1"/>
          <p:nvPr/>
        </p:nvSpPr>
        <p:spPr>
          <a:xfrm>
            <a:off x="5806440" y="2194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kg of water delivered to the depot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5806440" y="2560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B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~$370M</a:t>
            </a:r>
            <a:endParaRPr lang="en-US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8064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 year once 6 tugs run (about 370 t sold)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5806440" y="35204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Take-or-pay contracts signed before launch, so lenders see the cash.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clay left over can be sold as radiation-shielding bulk (not counted in our numbers).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1734" y="3522643"/>
            <a:ext cx="32004" cy="32004"/>
          </a:xfrm>
          <a:prstGeom prst="ellipse">
            <a:avLst/>
          </a:prstGeom>
          <a:solidFill>
            <a:srgbClr val="FFFFFF">
              <a:alpha val="50564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991351" y="3761277"/>
            <a:ext cx="32004" cy="32004"/>
          </a:xfrm>
          <a:prstGeom prst="ellipse">
            <a:avLst/>
          </a:prstGeom>
          <a:solidFill>
            <a:srgbClr val="FFFFFF">
              <a:alpha val="2375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2254" y="1798075"/>
            <a:ext cx="32004" cy="32004"/>
          </a:xfrm>
          <a:prstGeom prst="ellipse">
            <a:avLst/>
          </a:prstGeom>
          <a:solidFill>
            <a:srgbClr val="FFFFFF">
              <a:alpha val="1227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0175" y="2080575"/>
            <a:ext cx="32004" cy="32004"/>
          </a:xfrm>
          <a:prstGeom prst="ellipse">
            <a:avLst/>
          </a:prstGeom>
          <a:solidFill>
            <a:srgbClr val="FFFFFF">
              <a:alpha val="6291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13500" y="1441898"/>
            <a:ext cx="32004" cy="32004"/>
          </a:xfrm>
          <a:prstGeom prst="ellipse">
            <a:avLst/>
          </a:prstGeom>
          <a:solidFill>
            <a:srgbClr val="FFFFFF">
              <a:alpha val="28951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20558" y="3231766"/>
            <a:ext cx="32004" cy="32004"/>
          </a:xfrm>
          <a:prstGeom prst="ellipse">
            <a:avLst/>
          </a:prstGeom>
          <a:solidFill>
            <a:srgbClr val="FFFFFF">
              <a:alpha val="5484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4094" y="3205693"/>
            <a:ext cx="32004" cy="32004"/>
          </a:xfrm>
          <a:prstGeom prst="ellipse">
            <a:avLst/>
          </a:prstGeom>
          <a:solidFill>
            <a:srgbClr val="FFFFFF">
              <a:alpha val="6210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96631" y="1402429"/>
            <a:ext cx="32004" cy="32004"/>
          </a:xfrm>
          <a:prstGeom prst="ellipse">
            <a:avLst/>
          </a:prstGeom>
          <a:solidFill>
            <a:srgbClr val="FFFFFF">
              <a:alpha val="2353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011" y="1182463"/>
            <a:ext cx="32004" cy="32004"/>
          </a:xfrm>
          <a:prstGeom prst="ellipse">
            <a:avLst/>
          </a:prstGeom>
          <a:solidFill>
            <a:srgbClr val="FFFFFF">
              <a:alpha val="2910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81111" y="2336643"/>
            <a:ext cx="32004" cy="32004"/>
          </a:xfrm>
          <a:prstGeom prst="ellipse">
            <a:avLst/>
          </a:prstGeom>
          <a:solidFill>
            <a:srgbClr val="FFFFFF">
              <a:alpha val="2158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88256" y="3034790"/>
            <a:ext cx="32004" cy="32004"/>
          </a:xfrm>
          <a:prstGeom prst="ellipse">
            <a:avLst/>
          </a:prstGeom>
          <a:solidFill>
            <a:srgbClr val="FFFFFF">
              <a:alpha val="1480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922989" y="4161156"/>
            <a:ext cx="32004" cy="32004"/>
          </a:xfrm>
          <a:prstGeom prst="ellipse">
            <a:avLst/>
          </a:prstGeom>
          <a:solidFill>
            <a:srgbClr val="FFFFFF">
              <a:alpha val="5956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35574" y="3503123"/>
            <a:ext cx="32004" cy="32004"/>
          </a:xfrm>
          <a:prstGeom prst="ellipse">
            <a:avLst/>
          </a:prstGeom>
          <a:solidFill>
            <a:srgbClr val="FFFFFF">
              <a:alpha val="6346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100" y="4350178"/>
            <a:ext cx="32004" cy="32004"/>
          </a:xfrm>
          <a:prstGeom prst="ellipse">
            <a:avLst/>
          </a:prstGeom>
          <a:solidFill>
            <a:srgbClr val="FFFFFF">
              <a:alpha val="21731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60830" y="2512758"/>
            <a:ext cx="32004" cy="32004"/>
          </a:xfrm>
          <a:prstGeom prst="ellipse">
            <a:avLst/>
          </a:prstGeom>
          <a:solidFill>
            <a:srgbClr val="FFFFFF">
              <a:alpha val="46132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01814" y="2730098"/>
            <a:ext cx="32004" cy="32004"/>
          </a:xfrm>
          <a:prstGeom prst="ellipse">
            <a:avLst/>
          </a:prstGeom>
          <a:solidFill>
            <a:srgbClr val="FFFFFF">
              <a:alpha val="2819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23770" y="4514159"/>
            <a:ext cx="32004" cy="32004"/>
          </a:xfrm>
          <a:prstGeom prst="ellipse">
            <a:avLst/>
          </a:prstGeom>
          <a:solidFill>
            <a:srgbClr val="FFFFFF">
              <a:alpha val="2146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99098" y="3145356"/>
            <a:ext cx="32004" cy="32004"/>
          </a:xfrm>
          <a:prstGeom prst="ellipse">
            <a:avLst/>
          </a:prstGeom>
          <a:solidFill>
            <a:srgbClr val="FFFFFF">
              <a:alpha val="4220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11273" y="4326897"/>
            <a:ext cx="32004" cy="32004"/>
          </a:xfrm>
          <a:prstGeom prst="ellipse">
            <a:avLst/>
          </a:prstGeom>
          <a:solidFill>
            <a:srgbClr val="FFFFFF">
              <a:alpha val="10863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60120" y="4186934"/>
            <a:ext cx="32004" cy="32004"/>
          </a:xfrm>
          <a:prstGeom prst="ellipse">
            <a:avLst/>
          </a:prstGeom>
          <a:solidFill>
            <a:srgbClr val="FFFFFF">
              <a:alpha val="51539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45676" y="2568265"/>
            <a:ext cx="32004" cy="32004"/>
          </a:xfrm>
          <a:prstGeom prst="ellipse">
            <a:avLst/>
          </a:prstGeom>
          <a:solidFill>
            <a:srgbClr val="FFFFFF">
              <a:alpha val="18692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18306" y="4226443"/>
            <a:ext cx="32004" cy="32004"/>
          </a:xfrm>
          <a:prstGeom prst="ellipse">
            <a:avLst/>
          </a:prstGeom>
          <a:solidFill>
            <a:srgbClr val="FFFFFF">
              <a:alpha val="49553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70830" y="2869232"/>
            <a:ext cx="32004" cy="32004"/>
          </a:xfrm>
          <a:prstGeom prst="ellipse">
            <a:avLst/>
          </a:prstGeom>
          <a:solidFill>
            <a:srgbClr val="FFFFFF">
              <a:alpha val="2990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243778" y="4086819"/>
            <a:ext cx="32004" cy="32004"/>
          </a:xfrm>
          <a:prstGeom prst="ellipse">
            <a:avLst/>
          </a:prstGeom>
          <a:solidFill>
            <a:srgbClr val="FFFFFF">
              <a:alpha val="2797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84981" y="1851464"/>
            <a:ext cx="32004" cy="32004"/>
          </a:xfrm>
          <a:prstGeom prst="ellipse">
            <a:avLst/>
          </a:prstGeom>
          <a:solidFill>
            <a:srgbClr val="FFFFFF">
              <a:alpha val="44367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10457" y="1690640"/>
            <a:ext cx="32004" cy="32004"/>
          </a:xfrm>
          <a:prstGeom prst="ellipse">
            <a:avLst/>
          </a:prstGeom>
          <a:solidFill>
            <a:srgbClr val="FFFFFF">
              <a:alpha val="14292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504982" y="1793771"/>
            <a:ext cx="32004" cy="32004"/>
          </a:xfrm>
          <a:prstGeom prst="ellipse">
            <a:avLst/>
          </a:prstGeom>
          <a:solidFill>
            <a:srgbClr val="FFFFFF">
              <a:alpha val="3346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882289" y="4396062"/>
            <a:ext cx="32004" cy="32004"/>
          </a:xfrm>
          <a:prstGeom prst="ellipse">
            <a:avLst/>
          </a:prstGeom>
          <a:solidFill>
            <a:srgbClr val="FFFFFF">
              <a:alpha val="58101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239477" y="2159775"/>
            <a:ext cx="32004" cy="32004"/>
          </a:xfrm>
          <a:prstGeom prst="ellipse">
            <a:avLst/>
          </a:prstGeom>
          <a:solidFill>
            <a:srgbClr val="FFFFFF">
              <a:alpha val="25691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98830" y="2700346"/>
            <a:ext cx="32004" cy="32004"/>
          </a:xfrm>
          <a:prstGeom prst="ellipse">
            <a:avLst/>
          </a:prstGeom>
          <a:solidFill>
            <a:srgbClr val="FFFFFF">
              <a:alpha val="5176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33359" y="3668286"/>
            <a:ext cx="32004" cy="32004"/>
          </a:xfrm>
          <a:prstGeom prst="ellipse">
            <a:avLst/>
          </a:prstGeom>
          <a:solidFill>
            <a:srgbClr val="FFFFFF">
              <a:alpha val="1085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43456" y="3032148"/>
            <a:ext cx="32004" cy="32004"/>
          </a:xfrm>
          <a:prstGeom prst="ellipse">
            <a:avLst/>
          </a:prstGeom>
          <a:solidFill>
            <a:srgbClr val="FFFFFF">
              <a:alpha val="60279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92376" y="2098687"/>
            <a:ext cx="32004" cy="32004"/>
          </a:xfrm>
          <a:prstGeom prst="ellipse">
            <a:avLst/>
          </a:prstGeom>
          <a:solidFill>
            <a:srgbClr val="FFFFFF">
              <a:alpha val="33724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20240" y="3534573"/>
            <a:ext cx="32004" cy="32004"/>
          </a:xfrm>
          <a:prstGeom prst="ellipse">
            <a:avLst/>
          </a:prstGeom>
          <a:solidFill>
            <a:srgbClr val="FFFFFF">
              <a:alpha val="57861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55584" y="2848652"/>
            <a:ext cx="32004" cy="32004"/>
          </a:xfrm>
          <a:prstGeom prst="ellipse">
            <a:avLst/>
          </a:prstGeom>
          <a:solidFill>
            <a:srgbClr val="FFFFFF">
              <a:alpha val="17615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696" y="4689735"/>
            <a:ext cx="32004" cy="32004"/>
          </a:xfrm>
          <a:prstGeom prst="ellipse">
            <a:avLst/>
          </a:prstGeom>
          <a:solidFill>
            <a:srgbClr val="FFFFFF">
              <a:alpha val="34925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63236" y="3985050"/>
            <a:ext cx="32004" cy="32004"/>
          </a:xfrm>
          <a:prstGeom prst="ellipse">
            <a:avLst/>
          </a:prstGeom>
          <a:solidFill>
            <a:srgbClr val="FFFFFF">
              <a:alpha val="33579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10705" y="3963017"/>
            <a:ext cx="32004" cy="32004"/>
          </a:xfrm>
          <a:prstGeom prst="ellipse">
            <a:avLst/>
          </a:prstGeom>
          <a:solidFill>
            <a:srgbClr val="FFFFFF">
              <a:alpha val="1323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72746" y="2502050"/>
            <a:ext cx="32004" cy="32004"/>
          </a:xfrm>
          <a:prstGeom prst="ellipse">
            <a:avLst/>
          </a:prstGeom>
          <a:solidFill>
            <a:srgbClr val="FFFFFF">
              <a:alpha val="34173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107286" y="1967031"/>
            <a:ext cx="32004" cy="32004"/>
          </a:xfrm>
          <a:prstGeom prst="ellipse">
            <a:avLst/>
          </a:prstGeom>
          <a:solidFill>
            <a:srgbClr val="FFFFFF">
              <a:alpha val="32727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67092" y="4443293"/>
            <a:ext cx="32004" cy="32004"/>
          </a:xfrm>
          <a:prstGeom prst="ellipse">
            <a:avLst/>
          </a:prstGeom>
          <a:solidFill>
            <a:srgbClr val="FFFFFF">
              <a:alpha val="11724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05763" y="1512027"/>
            <a:ext cx="32004" cy="32004"/>
          </a:xfrm>
          <a:prstGeom prst="ellipse">
            <a:avLst/>
          </a:prstGeom>
          <a:solidFill>
            <a:srgbClr val="FFFFFF">
              <a:alpha val="63934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3765" y="1973394"/>
            <a:ext cx="32004" cy="32004"/>
          </a:xfrm>
          <a:prstGeom prst="ellipse">
            <a:avLst/>
          </a:prstGeom>
          <a:solidFill>
            <a:srgbClr val="FFFFFF">
              <a:alpha val="180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95613" y="1562602"/>
            <a:ext cx="32004" cy="32004"/>
          </a:xfrm>
          <a:prstGeom prst="ellipse">
            <a:avLst/>
          </a:prstGeom>
          <a:solidFill>
            <a:srgbClr val="FFFFFF">
              <a:alpha val="63239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10208" y="4499521"/>
            <a:ext cx="32004" cy="32004"/>
          </a:xfrm>
          <a:prstGeom prst="ellipse">
            <a:avLst/>
          </a:prstGeom>
          <a:solidFill>
            <a:srgbClr val="FFFFFF">
              <a:alpha val="16945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78777" y="1247408"/>
            <a:ext cx="32004" cy="32004"/>
          </a:xfrm>
          <a:prstGeom prst="ellipse">
            <a:avLst/>
          </a:prstGeom>
          <a:solidFill>
            <a:srgbClr val="FFFFFF">
              <a:alpha val="26959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115656" y="1700610"/>
            <a:ext cx="32004" cy="32004"/>
          </a:xfrm>
          <a:prstGeom prst="ellipse">
            <a:avLst/>
          </a:prstGeom>
          <a:solidFill>
            <a:srgbClr val="FFFFFF">
              <a:alpha val="51832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688274" y="3352962"/>
            <a:ext cx="32004" cy="32004"/>
          </a:xfrm>
          <a:prstGeom prst="ellipse">
            <a:avLst/>
          </a:prstGeom>
          <a:solidFill>
            <a:srgbClr val="FFFFFF">
              <a:alpha val="5349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73486" y="1738536"/>
            <a:ext cx="32004" cy="32004"/>
          </a:xfrm>
          <a:prstGeom prst="ellipse">
            <a:avLst/>
          </a:prstGeom>
          <a:solidFill>
            <a:srgbClr val="FFFFFF">
              <a:alpha val="10797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293159" y="3452462"/>
            <a:ext cx="32004" cy="32004"/>
          </a:xfrm>
          <a:prstGeom prst="ellipse">
            <a:avLst/>
          </a:prstGeom>
          <a:solidFill>
            <a:srgbClr val="FFFFFF">
              <a:alpha val="25121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186614" y="1372722"/>
            <a:ext cx="32004" cy="32004"/>
          </a:xfrm>
          <a:prstGeom prst="ellipse">
            <a:avLst/>
          </a:prstGeom>
          <a:solidFill>
            <a:srgbClr val="FFFFFF">
              <a:alpha val="3873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65062" y="3895802"/>
            <a:ext cx="32004" cy="32004"/>
          </a:xfrm>
          <a:prstGeom prst="ellipse">
            <a:avLst/>
          </a:prstGeom>
          <a:solidFill>
            <a:srgbClr val="FFFFFF">
              <a:alpha val="47615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181777" y="2500554"/>
            <a:ext cx="32004" cy="32004"/>
          </a:xfrm>
          <a:prstGeom prst="ellipse">
            <a:avLst/>
          </a:prstGeom>
          <a:solidFill>
            <a:srgbClr val="FFFFFF">
              <a:alpha val="342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76722" y="1198042"/>
            <a:ext cx="32004" cy="32004"/>
          </a:xfrm>
          <a:prstGeom prst="ellipse">
            <a:avLst/>
          </a:prstGeom>
          <a:solidFill>
            <a:srgbClr val="FFFFFF">
              <a:alpha val="25585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352526" y="2562567"/>
            <a:ext cx="32004" cy="32004"/>
          </a:xfrm>
          <a:prstGeom prst="ellipse">
            <a:avLst/>
          </a:prstGeom>
          <a:solidFill>
            <a:srgbClr val="FFFFFF">
              <a:alpha val="21052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966117" y="1487275"/>
            <a:ext cx="32004" cy="32004"/>
          </a:xfrm>
          <a:prstGeom prst="ellipse">
            <a:avLst/>
          </a:prstGeom>
          <a:solidFill>
            <a:srgbClr val="FFFFFF">
              <a:alpha val="4848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185222" y="3466754"/>
            <a:ext cx="32004" cy="32004"/>
          </a:xfrm>
          <a:prstGeom prst="ellipse">
            <a:avLst/>
          </a:prstGeom>
          <a:solidFill>
            <a:srgbClr val="FFFFFF">
              <a:alpha val="3827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40134" y="1452408"/>
            <a:ext cx="32004" cy="32004"/>
          </a:xfrm>
          <a:prstGeom prst="ellipse">
            <a:avLst/>
          </a:prstGeom>
          <a:solidFill>
            <a:srgbClr val="FFFFFF">
              <a:alpha val="2222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123385" y="4483078"/>
            <a:ext cx="32004" cy="32004"/>
          </a:xfrm>
          <a:prstGeom prst="ellipse">
            <a:avLst/>
          </a:prstGeom>
          <a:solidFill>
            <a:srgbClr val="FFFFFF">
              <a:alpha val="14231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1125" y="2811029"/>
            <a:ext cx="32004" cy="32004"/>
          </a:xfrm>
          <a:prstGeom prst="ellipse">
            <a:avLst/>
          </a:prstGeom>
          <a:solidFill>
            <a:srgbClr val="FFFFFF">
              <a:alpha val="57867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80226" y="4030413"/>
            <a:ext cx="32004" cy="32004"/>
          </a:xfrm>
          <a:prstGeom prst="ellipse">
            <a:avLst/>
          </a:prstGeom>
          <a:solidFill>
            <a:srgbClr val="FFFFFF">
              <a:alpha val="55683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854602" y="2318267"/>
            <a:ext cx="32004" cy="32004"/>
          </a:xfrm>
          <a:prstGeom prst="ellipse">
            <a:avLst/>
          </a:prstGeom>
          <a:solidFill>
            <a:srgbClr val="FFFFFF">
              <a:alpha val="44171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433949" y="4447771"/>
            <a:ext cx="32004" cy="32004"/>
          </a:xfrm>
          <a:prstGeom prst="ellipse">
            <a:avLst/>
          </a:prstGeom>
          <a:solidFill>
            <a:srgbClr val="FFFFFF">
              <a:alpha val="13748"/>
            </a:srgbClr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C  ·  BUSINESS  ·  2 / 2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" y="429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Han get paid? And what could sink us</a:t>
            </a:r>
            <a:endParaRPr lang="en-US" sz="26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Subpart C: the numbers, then the bad feelings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48463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6 tugs, 2 mining bases, 20-year horizon, 10% discount rate, 20% contingency. Break-even is when cumulative cash turns positive.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32104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0" name="Chart 0"/>
          <p:cNvGraphicFramePr/>
          <p:nvPr/>
        </p:nvGraphicFramePr>
        <p:xfrm>
          <a:off x="274320" y="1188720"/>
          <a:ext cx="43891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1" name="Shape 68"/>
          <p:cNvSpPr/>
          <p:nvPr/>
        </p:nvSpPr>
        <p:spPr>
          <a:xfrm>
            <a:off x="365760" y="3520440"/>
            <a:ext cx="804672" cy="658368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384048" y="3538728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Yr 11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234440" y="3520440"/>
            <a:ext cx="804672" cy="658368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252728" y="3538728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$1.7B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2103120" y="3520440"/>
            <a:ext cx="804672" cy="658368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2121408" y="3538728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$1126M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971800" y="3520440"/>
            <a:ext cx="804672" cy="658368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2990088" y="3538728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$395M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10%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3840480" y="3520440"/>
            <a:ext cx="804672" cy="658368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3858768" y="3538728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14.1%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100" dirty="0"/>
          </a:p>
        </p:txBody>
      </p:sp>
      <p:sp>
        <p:nvSpPr>
          <p:cNvPr id="81" name="Text 78"/>
          <p:cNvSpPr txBox="1"/>
          <p:nvPr/>
        </p:nvSpPr>
        <p:spPr>
          <a:xfrm>
            <a:off x="36576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yr 0-2 ground tests + offtake letters  &gt;  yr 3 pilot tug launches  &gt;  yr 6 first sale  &gt;  yr 8-11 fleet of six, break-even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4846320" y="1234440"/>
            <a:ext cx="3886200" cy="80467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937760" y="126187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buys yet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Cislunar demand is thin today. We sign take-or-pay letters before the first launch and start with one pilot tug, so a miss costs a pilot, not the fleet.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4846320" y="2103120"/>
            <a:ext cx="3886200" cy="80467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937760" y="213055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water appears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Starship or lunar ice could push the price down. NPV stays positive down to about $770/kg and our cost is $380/kg.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4846320" y="2971800"/>
            <a:ext cx="3886200" cy="80467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4937760" y="299923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 underperforms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yield halves, IRR falls to 3.8%. So funding is staged: no fleet money until the pilot proves the yield.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846320" y="3840480"/>
            <a:ext cx="3886200" cy="804672"/>
          </a:xfrm>
          <a:prstGeom prst="rect">
            <a:avLst/>
          </a:prstGeom>
          <a:solidFill>
            <a:srgbClr val="0E1424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937760" y="386791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Bennu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hazardous-asteroid listing. Share tracking data openly and partner with an agency.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526" y="4271493"/>
            <a:ext cx="32004" cy="32004"/>
          </a:xfrm>
          <a:prstGeom prst="ellipse">
            <a:avLst/>
          </a:prstGeom>
          <a:solidFill>
            <a:srgbClr val="FFFFFF">
              <a:alpha val="19314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4282" y="4042724"/>
            <a:ext cx="32004" cy="32004"/>
          </a:xfrm>
          <a:prstGeom prst="ellipse">
            <a:avLst/>
          </a:prstGeom>
          <a:solidFill>
            <a:srgbClr val="FFFFFF">
              <a:alpha val="4776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5174" y="357755"/>
            <a:ext cx="32004" cy="32004"/>
          </a:xfrm>
          <a:prstGeom prst="ellipse">
            <a:avLst/>
          </a:prstGeom>
          <a:solidFill>
            <a:srgbClr val="FFFFFF">
              <a:alpha val="333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5866" y="4569396"/>
            <a:ext cx="32004" cy="32004"/>
          </a:xfrm>
          <a:prstGeom prst="ellipse">
            <a:avLst/>
          </a:prstGeom>
          <a:solidFill>
            <a:srgbClr val="FFFFFF">
              <a:alpha val="4367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67199" y="1193974"/>
            <a:ext cx="32004" cy="32004"/>
          </a:xfrm>
          <a:prstGeom prst="ellipse">
            <a:avLst/>
          </a:prstGeom>
          <a:solidFill>
            <a:srgbClr val="FFFFFF">
              <a:alpha val="5835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19754" y="4081358"/>
            <a:ext cx="32004" cy="32004"/>
          </a:xfrm>
          <a:prstGeom prst="ellipse">
            <a:avLst/>
          </a:prstGeom>
          <a:solidFill>
            <a:srgbClr val="FFFFFF">
              <a:alpha val="4181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34060" y="4159242"/>
            <a:ext cx="32004" cy="32004"/>
          </a:xfrm>
          <a:prstGeom prst="ellipse">
            <a:avLst/>
          </a:prstGeom>
          <a:solidFill>
            <a:srgbClr val="FFFFFF">
              <a:alpha val="2635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0586" y="241154"/>
            <a:ext cx="32004" cy="32004"/>
          </a:xfrm>
          <a:prstGeom prst="ellipse">
            <a:avLst/>
          </a:prstGeom>
          <a:solidFill>
            <a:srgbClr val="FFFFFF">
              <a:alpha val="1506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36914" y="1128727"/>
            <a:ext cx="32004" cy="32004"/>
          </a:xfrm>
          <a:prstGeom prst="ellipse">
            <a:avLst/>
          </a:prstGeom>
          <a:solidFill>
            <a:srgbClr val="FFFFFF">
              <a:alpha val="61009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02770" y="4374925"/>
            <a:ext cx="32004" cy="32004"/>
          </a:xfrm>
          <a:prstGeom prst="ellipse">
            <a:avLst/>
          </a:prstGeom>
          <a:solidFill>
            <a:srgbClr val="FFFFFF">
              <a:alpha val="38024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22413" y="5028132"/>
            <a:ext cx="32004" cy="32004"/>
          </a:xfrm>
          <a:prstGeom prst="ellipse">
            <a:avLst/>
          </a:prstGeom>
          <a:solidFill>
            <a:srgbClr val="FFFFFF">
              <a:alpha val="4129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32993" y="691593"/>
            <a:ext cx="32004" cy="32004"/>
          </a:xfrm>
          <a:prstGeom prst="ellipse">
            <a:avLst/>
          </a:prstGeom>
          <a:solidFill>
            <a:srgbClr val="FFFFFF">
              <a:alpha val="52812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04713" y="4451531"/>
            <a:ext cx="32004" cy="32004"/>
          </a:xfrm>
          <a:prstGeom prst="ellipse">
            <a:avLst/>
          </a:prstGeom>
          <a:solidFill>
            <a:srgbClr val="FFFFFF">
              <a:alpha val="375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10178" y="1235592"/>
            <a:ext cx="32004" cy="32004"/>
          </a:xfrm>
          <a:prstGeom prst="ellipse">
            <a:avLst/>
          </a:prstGeom>
          <a:solidFill>
            <a:srgbClr val="FFFFFF">
              <a:alpha val="53757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71935" y="445908"/>
            <a:ext cx="32004" cy="32004"/>
          </a:xfrm>
          <a:prstGeom prst="ellipse">
            <a:avLst/>
          </a:prstGeom>
          <a:solidFill>
            <a:srgbClr val="FFFFFF">
              <a:alpha val="55534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66641" y="5020151"/>
            <a:ext cx="32004" cy="32004"/>
          </a:xfrm>
          <a:prstGeom prst="ellipse">
            <a:avLst/>
          </a:prstGeom>
          <a:solidFill>
            <a:srgbClr val="FFFFFF">
              <a:alpha val="23195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17692" y="4111830"/>
            <a:ext cx="32004" cy="32004"/>
          </a:xfrm>
          <a:prstGeom prst="ellipse">
            <a:avLst/>
          </a:prstGeom>
          <a:solidFill>
            <a:srgbClr val="FFFFFF">
              <a:alpha val="5095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17936" y="4776965"/>
            <a:ext cx="32004" cy="32004"/>
          </a:xfrm>
          <a:prstGeom prst="ellipse">
            <a:avLst/>
          </a:prstGeom>
          <a:solidFill>
            <a:srgbClr val="FFFFFF">
              <a:alpha val="61694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69127" y="4451000"/>
            <a:ext cx="32004" cy="32004"/>
          </a:xfrm>
          <a:prstGeom prst="ellipse">
            <a:avLst/>
          </a:prstGeom>
          <a:solidFill>
            <a:srgbClr val="FFFFFF">
              <a:alpha val="25309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7168" y="524854"/>
            <a:ext cx="32004" cy="32004"/>
          </a:xfrm>
          <a:prstGeom prst="ellipse">
            <a:avLst/>
          </a:prstGeom>
          <a:solidFill>
            <a:srgbClr val="FFFFFF">
              <a:alpha val="6497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60943" y="51523"/>
            <a:ext cx="32004" cy="32004"/>
          </a:xfrm>
          <a:prstGeom prst="ellipse">
            <a:avLst/>
          </a:prstGeom>
          <a:solidFill>
            <a:srgbClr val="FFFFFF">
              <a:alpha val="5480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91540" y="890756"/>
            <a:ext cx="32004" cy="32004"/>
          </a:xfrm>
          <a:prstGeom prst="ellipse">
            <a:avLst/>
          </a:prstGeom>
          <a:solidFill>
            <a:srgbClr val="FFFFFF">
              <a:alpha val="20897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5972" y="4802577"/>
            <a:ext cx="32004" cy="32004"/>
          </a:xfrm>
          <a:prstGeom prst="ellipse">
            <a:avLst/>
          </a:prstGeom>
          <a:solidFill>
            <a:srgbClr val="FFFFFF">
              <a:alpha val="2918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85533" y="3974451"/>
            <a:ext cx="32004" cy="32004"/>
          </a:xfrm>
          <a:prstGeom prst="ellipse">
            <a:avLst/>
          </a:prstGeom>
          <a:solidFill>
            <a:srgbClr val="FFFFFF">
              <a:alpha val="56612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84376" y="1279579"/>
            <a:ext cx="32004" cy="32004"/>
          </a:xfrm>
          <a:prstGeom prst="ellipse">
            <a:avLst/>
          </a:prstGeom>
          <a:solidFill>
            <a:srgbClr val="FFFFFF">
              <a:alpha val="5372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878" y="772860"/>
            <a:ext cx="32004" cy="32004"/>
          </a:xfrm>
          <a:prstGeom prst="ellipse">
            <a:avLst/>
          </a:prstGeom>
          <a:solidFill>
            <a:srgbClr val="FFFFFF">
              <a:alpha val="20469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34536" y="750240"/>
            <a:ext cx="32004" cy="32004"/>
          </a:xfrm>
          <a:prstGeom prst="ellipse">
            <a:avLst/>
          </a:prstGeom>
          <a:solidFill>
            <a:srgbClr val="FFFFFF">
              <a:alpha val="53277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25332" y="934068"/>
            <a:ext cx="32004" cy="32004"/>
          </a:xfrm>
          <a:prstGeom prst="ellipse">
            <a:avLst/>
          </a:prstGeom>
          <a:solidFill>
            <a:srgbClr val="FFFFFF">
              <a:alpha val="34983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74066" y="516965"/>
            <a:ext cx="32004" cy="32004"/>
          </a:xfrm>
          <a:prstGeom prst="ellipse">
            <a:avLst/>
          </a:prstGeom>
          <a:solidFill>
            <a:srgbClr val="FFFFFF">
              <a:alpha val="30034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3866" y="5025491"/>
            <a:ext cx="32004" cy="32004"/>
          </a:xfrm>
          <a:prstGeom prst="ellipse">
            <a:avLst/>
          </a:prstGeom>
          <a:solidFill>
            <a:srgbClr val="FFFFFF">
              <a:alpha val="31703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048315" y="593726"/>
            <a:ext cx="32004" cy="32004"/>
          </a:xfrm>
          <a:prstGeom prst="ellipse">
            <a:avLst/>
          </a:prstGeom>
          <a:solidFill>
            <a:srgbClr val="FFFFFF">
              <a:alpha val="56089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26248" y="4996459"/>
            <a:ext cx="32004" cy="32004"/>
          </a:xfrm>
          <a:prstGeom prst="ellipse">
            <a:avLst/>
          </a:prstGeom>
          <a:solidFill>
            <a:srgbClr val="FFFFFF">
              <a:alpha val="3296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17935" y="4578511"/>
            <a:ext cx="32004" cy="32004"/>
          </a:xfrm>
          <a:prstGeom prst="ellipse">
            <a:avLst/>
          </a:prstGeom>
          <a:solidFill>
            <a:srgbClr val="FFFFFF">
              <a:alpha val="18261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03760" y="1268736"/>
            <a:ext cx="32004" cy="32004"/>
          </a:xfrm>
          <a:prstGeom prst="ellipse">
            <a:avLst/>
          </a:prstGeom>
          <a:solidFill>
            <a:srgbClr val="FFFFFF">
              <a:alpha val="11707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71646" y="3943629"/>
            <a:ext cx="32004" cy="32004"/>
          </a:xfrm>
          <a:prstGeom prst="ellipse">
            <a:avLst/>
          </a:prstGeom>
          <a:solidFill>
            <a:srgbClr val="FFFFFF">
              <a:alpha val="56807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69947" y="582144"/>
            <a:ext cx="32004" cy="32004"/>
          </a:xfrm>
          <a:prstGeom prst="ellipse">
            <a:avLst/>
          </a:prstGeom>
          <a:solidFill>
            <a:srgbClr val="FFFFFF">
              <a:alpha val="3983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58529" y="171004"/>
            <a:ext cx="32004" cy="32004"/>
          </a:xfrm>
          <a:prstGeom prst="ellipse">
            <a:avLst/>
          </a:prstGeom>
          <a:solidFill>
            <a:srgbClr val="FFFFFF">
              <a:alpha val="38835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8647" y="1263055"/>
            <a:ext cx="32004" cy="32004"/>
          </a:xfrm>
          <a:prstGeom prst="ellipse">
            <a:avLst/>
          </a:prstGeom>
          <a:solidFill>
            <a:srgbClr val="FFFFFF">
              <a:alpha val="11029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990192" y="995541"/>
            <a:ext cx="32004" cy="32004"/>
          </a:xfrm>
          <a:prstGeom prst="ellipse">
            <a:avLst/>
          </a:prstGeom>
          <a:solidFill>
            <a:srgbClr val="FFFFFF">
              <a:alpha val="10955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4227" y="1223040"/>
            <a:ext cx="32004" cy="32004"/>
          </a:xfrm>
          <a:prstGeom prst="ellipse">
            <a:avLst/>
          </a:prstGeom>
          <a:solidFill>
            <a:srgbClr val="FFFFFF">
              <a:alpha val="5081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7483" y="4482390"/>
            <a:ext cx="32004" cy="32004"/>
          </a:xfrm>
          <a:prstGeom prst="ellipse">
            <a:avLst/>
          </a:prstGeom>
          <a:solidFill>
            <a:srgbClr val="FFFFFF">
              <a:alpha val="30669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978756" y="4901441"/>
            <a:ext cx="32004" cy="32004"/>
          </a:xfrm>
          <a:prstGeom prst="ellipse">
            <a:avLst/>
          </a:prstGeom>
          <a:solidFill>
            <a:srgbClr val="FFFFFF">
              <a:alpha val="62593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881" y="654136"/>
            <a:ext cx="32004" cy="32004"/>
          </a:xfrm>
          <a:prstGeom prst="ellipse">
            <a:avLst/>
          </a:prstGeom>
          <a:solidFill>
            <a:srgbClr val="FFFFFF">
              <a:alpha val="6245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37251" y="4077843"/>
            <a:ext cx="32004" cy="32004"/>
          </a:xfrm>
          <a:prstGeom prst="ellipse">
            <a:avLst/>
          </a:prstGeom>
          <a:solidFill>
            <a:srgbClr val="FFFFFF">
              <a:alpha val="27814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891663" y="4375720"/>
            <a:ext cx="32004" cy="32004"/>
          </a:xfrm>
          <a:prstGeom prst="ellipse">
            <a:avLst/>
          </a:prstGeom>
          <a:solidFill>
            <a:srgbClr val="FFFFFF">
              <a:alpha val="57011"/>
            </a:srgbClr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E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Han, here are the odds: 14.1% IRR, break-even in year 11, water at $380/kg.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1706</Words>
  <Application>Microsoft Office PowerPoint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Rounded MT 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First - STAC Wars PS4</dc:title>
  <dc:subject>PptxGenJS Presentation</dc:subject>
  <dc:creator>PptxGenJS</dc:creator>
  <cp:lastModifiedBy>Harun Garg</cp:lastModifiedBy>
  <cp:revision>6</cp:revision>
  <dcterms:created xsi:type="dcterms:W3CDTF">2026-10-24T19:45:08Z</dcterms:created>
  <dcterms:modified xsi:type="dcterms:W3CDTF">2026-10-25T04:26:59Z</dcterms:modified>
</cp:coreProperties>
</file>